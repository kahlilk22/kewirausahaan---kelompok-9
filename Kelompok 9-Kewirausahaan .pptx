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Unique" charset="1" panose="00000000000000000000"/>
      <p:regular r:id="rId15"/>
    </p:embeddedFont>
    <p:embeddedFont>
      <p:font typeface="Vintii" charset="1" panose="02000500000000000000"/>
      <p:regular r:id="rId16"/>
    </p:embeddedFont>
    <p:embeddedFont>
      <p:font typeface="Marykate"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1.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5593216">
            <a:off x="-1049628" y="6066657"/>
            <a:ext cx="5312174" cy="6071055"/>
          </a:xfrm>
          <a:custGeom>
            <a:avLst/>
            <a:gdLst/>
            <a:ahLst/>
            <a:cxnLst/>
            <a:rect r="r" b="b" t="t" l="l"/>
            <a:pathLst>
              <a:path h="6071055" w="5312174">
                <a:moveTo>
                  <a:pt x="0" y="0"/>
                </a:moveTo>
                <a:lnTo>
                  <a:pt x="5312173" y="0"/>
                </a:lnTo>
                <a:lnTo>
                  <a:pt x="5312173" y="6071055"/>
                </a:lnTo>
                <a:lnTo>
                  <a:pt x="0" y="6071055"/>
                </a:lnTo>
                <a:lnTo>
                  <a:pt x="0" y="0"/>
                </a:lnTo>
                <a:close/>
              </a:path>
            </a:pathLst>
          </a:custGeom>
          <a:blipFill>
            <a:blip r:embed="rId2"/>
            <a:stretch>
              <a:fillRect l="0" t="0" r="0" b="0"/>
            </a:stretch>
          </a:blipFill>
        </p:spPr>
      </p:sp>
      <p:sp>
        <p:nvSpPr>
          <p:cNvPr name="Freeform 3" id="3"/>
          <p:cNvSpPr/>
          <p:nvPr/>
        </p:nvSpPr>
        <p:spPr>
          <a:xfrm flipH="false" flipV="false" rot="-5593216">
            <a:off x="14010667" y="-1791078"/>
            <a:ext cx="5312174" cy="6071055"/>
          </a:xfrm>
          <a:custGeom>
            <a:avLst/>
            <a:gdLst/>
            <a:ahLst/>
            <a:cxnLst/>
            <a:rect r="r" b="b" t="t" l="l"/>
            <a:pathLst>
              <a:path h="6071055" w="5312174">
                <a:moveTo>
                  <a:pt x="0" y="0"/>
                </a:moveTo>
                <a:lnTo>
                  <a:pt x="5312174" y="0"/>
                </a:lnTo>
                <a:lnTo>
                  <a:pt x="5312174" y="6071055"/>
                </a:lnTo>
                <a:lnTo>
                  <a:pt x="0" y="6071055"/>
                </a:lnTo>
                <a:lnTo>
                  <a:pt x="0" y="0"/>
                </a:lnTo>
                <a:close/>
              </a:path>
            </a:pathLst>
          </a:custGeom>
          <a:blipFill>
            <a:blip r:embed="rId2"/>
            <a:stretch>
              <a:fillRect l="0" t="0" r="0" b="0"/>
            </a:stretch>
          </a:blipFill>
        </p:spPr>
      </p:sp>
      <p:sp>
        <p:nvSpPr>
          <p:cNvPr name="Freeform 4" id="4"/>
          <p:cNvSpPr/>
          <p:nvPr/>
        </p:nvSpPr>
        <p:spPr>
          <a:xfrm flipH="false" flipV="false" rot="-8100000">
            <a:off x="15335691" y="2710682"/>
            <a:ext cx="2662126" cy="2747034"/>
          </a:xfrm>
          <a:custGeom>
            <a:avLst/>
            <a:gdLst/>
            <a:ahLst/>
            <a:cxnLst/>
            <a:rect r="r" b="b" t="t" l="l"/>
            <a:pathLst>
              <a:path h="2747034" w="2662126">
                <a:moveTo>
                  <a:pt x="0" y="0"/>
                </a:moveTo>
                <a:lnTo>
                  <a:pt x="2662126" y="0"/>
                </a:lnTo>
                <a:lnTo>
                  <a:pt x="2662126" y="2747034"/>
                </a:lnTo>
                <a:lnTo>
                  <a:pt x="0" y="27470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764743">
            <a:off x="-3939419" y="-8123799"/>
            <a:ext cx="11652341" cy="11652341"/>
          </a:xfrm>
          <a:custGeom>
            <a:avLst/>
            <a:gdLst/>
            <a:ahLst/>
            <a:cxnLst/>
            <a:rect r="r" b="b" t="t" l="l"/>
            <a:pathLst>
              <a:path h="11652341" w="11652341">
                <a:moveTo>
                  <a:pt x="0" y="0"/>
                </a:moveTo>
                <a:lnTo>
                  <a:pt x="11652342" y="0"/>
                </a:lnTo>
                <a:lnTo>
                  <a:pt x="11652342" y="11652342"/>
                </a:lnTo>
                <a:lnTo>
                  <a:pt x="0" y="11652342"/>
                </a:lnTo>
                <a:lnTo>
                  <a:pt x="0" y="0"/>
                </a:lnTo>
                <a:close/>
              </a:path>
            </a:pathLst>
          </a:custGeom>
          <a:blipFill>
            <a:blip r:embed="rId5"/>
            <a:stretch>
              <a:fillRect l="0" t="0" r="0" b="0"/>
            </a:stretch>
          </a:blipFill>
        </p:spPr>
      </p:sp>
      <p:grpSp>
        <p:nvGrpSpPr>
          <p:cNvPr name="Group 6" id="6"/>
          <p:cNvGrpSpPr/>
          <p:nvPr/>
        </p:nvGrpSpPr>
        <p:grpSpPr>
          <a:xfrm rot="5400000">
            <a:off x="1886752" y="2171772"/>
            <a:ext cx="1420060" cy="1420060"/>
            <a:chOff x="0" y="0"/>
            <a:chExt cx="1893413" cy="1893413"/>
          </a:xfrm>
        </p:grpSpPr>
        <p:sp>
          <p:nvSpPr>
            <p:cNvPr name="Freeform 7" id="7"/>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6"/>
              <a:stretch>
                <a:fillRect l="0" t="0" r="0" b="0"/>
              </a:stretch>
            </a:blipFill>
          </p:spPr>
        </p:sp>
        <p:grpSp>
          <p:nvGrpSpPr>
            <p:cNvPr name="Group 8" id="8"/>
            <p:cNvGrpSpPr/>
            <p:nvPr/>
          </p:nvGrpSpPr>
          <p:grpSpPr>
            <a:xfrm rot="0">
              <a:off x="839799" y="527514"/>
              <a:ext cx="213816" cy="21381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1" id="11"/>
            <p:cNvGrpSpPr/>
            <p:nvPr/>
          </p:nvGrpSpPr>
          <p:grpSpPr>
            <a:xfrm rot="0">
              <a:off x="839799" y="1152084"/>
              <a:ext cx="213816" cy="213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4" id="14"/>
          <p:cNvGrpSpPr/>
          <p:nvPr/>
        </p:nvGrpSpPr>
        <p:grpSpPr>
          <a:xfrm rot="5400000">
            <a:off x="1840110" y="6695168"/>
            <a:ext cx="1420060" cy="1420060"/>
            <a:chOff x="0" y="0"/>
            <a:chExt cx="1893413" cy="1893413"/>
          </a:xfrm>
        </p:grpSpPr>
        <p:sp>
          <p:nvSpPr>
            <p:cNvPr name="Freeform 15" id="15"/>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6"/>
              <a:stretch>
                <a:fillRect l="0" t="0" r="0" b="0"/>
              </a:stretch>
            </a:blipFill>
          </p:spPr>
        </p:sp>
        <p:grpSp>
          <p:nvGrpSpPr>
            <p:cNvPr name="Group 16" id="16"/>
            <p:cNvGrpSpPr/>
            <p:nvPr/>
          </p:nvGrpSpPr>
          <p:grpSpPr>
            <a:xfrm rot="0">
              <a:off x="839799" y="527514"/>
              <a:ext cx="213816" cy="21381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9" id="19"/>
            <p:cNvGrpSpPr/>
            <p:nvPr/>
          </p:nvGrpSpPr>
          <p:grpSpPr>
            <a:xfrm rot="0">
              <a:off x="839799" y="1152084"/>
              <a:ext cx="213816" cy="2138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sp>
        <p:nvSpPr>
          <p:cNvPr name="Freeform 22" id="22"/>
          <p:cNvSpPr/>
          <p:nvPr/>
        </p:nvSpPr>
        <p:spPr>
          <a:xfrm flipH="false" flipV="false" rot="0">
            <a:off x="2347021" y="3858660"/>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2347021" y="4544109"/>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2347021" y="5229557"/>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0">
            <a:off x="2347021" y="5915005"/>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6" id="26"/>
          <p:cNvSpPr txBox="true"/>
          <p:nvPr/>
        </p:nvSpPr>
        <p:spPr>
          <a:xfrm rot="0">
            <a:off x="2638731" y="2651137"/>
            <a:ext cx="13035871" cy="2578420"/>
          </a:xfrm>
          <a:prstGeom prst="rect">
            <a:avLst/>
          </a:prstGeom>
        </p:spPr>
        <p:txBody>
          <a:bodyPr anchor="t" rtlCol="false" tIns="0" lIns="0" bIns="0" rIns="0">
            <a:spAutoFit/>
          </a:bodyPr>
          <a:lstStyle/>
          <a:p>
            <a:pPr algn="ctr">
              <a:lnSpc>
                <a:spcPts val="17526"/>
              </a:lnSpc>
            </a:pPr>
            <a:r>
              <a:rPr lang="en-US" sz="15933">
                <a:solidFill>
                  <a:srgbClr val="3A3E61"/>
                </a:solidFill>
                <a:latin typeface="Unique"/>
                <a:ea typeface="Unique"/>
                <a:cs typeface="Unique"/>
                <a:sym typeface="Unique"/>
              </a:rPr>
              <a:t>KELOMPOK 9</a:t>
            </a:r>
          </a:p>
        </p:txBody>
      </p:sp>
      <p:sp>
        <p:nvSpPr>
          <p:cNvPr name="AutoShape 27" id="27"/>
          <p:cNvSpPr/>
          <p:nvPr/>
        </p:nvSpPr>
        <p:spPr>
          <a:xfrm flipV="true">
            <a:off x="15674602" y="0"/>
            <a:ext cx="2613398" cy="1028700"/>
          </a:xfrm>
          <a:prstGeom prst="line">
            <a:avLst/>
          </a:prstGeom>
          <a:ln cap="rnd" w="76200">
            <a:solidFill>
              <a:srgbClr val="9AA5DF"/>
            </a:solidFill>
            <a:prstDash val="sysDash"/>
            <a:headEnd type="none" len="sm" w="sm"/>
            <a:tailEnd type="none" len="sm" w="sm"/>
          </a:ln>
        </p:spPr>
      </p:sp>
      <p:sp>
        <p:nvSpPr>
          <p:cNvPr name="Freeform 28" id="28"/>
          <p:cNvSpPr/>
          <p:nvPr/>
        </p:nvSpPr>
        <p:spPr>
          <a:xfrm flipH="false" flipV="false" rot="-1764743">
            <a:off x="10343423" y="7749018"/>
            <a:ext cx="11652341" cy="11652341"/>
          </a:xfrm>
          <a:custGeom>
            <a:avLst/>
            <a:gdLst/>
            <a:ahLst/>
            <a:cxnLst/>
            <a:rect r="r" b="b" t="t" l="l"/>
            <a:pathLst>
              <a:path h="11652341" w="11652341">
                <a:moveTo>
                  <a:pt x="0" y="0"/>
                </a:moveTo>
                <a:lnTo>
                  <a:pt x="11652342" y="0"/>
                </a:lnTo>
                <a:lnTo>
                  <a:pt x="11652342" y="11652341"/>
                </a:lnTo>
                <a:lnTo>
                  <a:pt x="0" y="11652341"/>
                </a:lnTo>
                <a:lnTo>
                  <a:pt x="0" y="0"/>
                </a:lnTo>
                <a:close/>
              </a:path>
            </a:pathLst>
          </a:custGeom>
          <a:blipFill>
            <a:blip r:embed="rId5"/>
            <a:stretch>
              <a:fillRect l="0" t="0" r="0" b="0"/>
            </a:stretch>
          </a:blipFill>
        </p:spPr>
      </p:sp>
      <p:sp>
        <p:nvSpPr>
          <p:cNvPr name="AutoShape 29" id="29"/>
          <p:cNvSpPr/>
          <p:nvPr/>
        </p:nvSpPr>
        <p:spPr>
          <a:xfrm>
            <a:off x="15674602" y="9258300"/>
            <a:ext cx="2613398" cy="1028700"/>
          </a:xfrm>
          <a:prstGeom prst="line">
            <a:avLst/>
          </a:prstGeom>
          <a:ln cap="rnd" w="76200">
            <a:solidFill>
              <a:srgbClr val="9AA5DF"/>
            </a:solidFill>
            <a:prstDash val="sysDash"/>
            <a:headEnd type="none" len="sm" w="sm"/>
            <a:tailEnd type="none" len="sm" w="sm"/>
          </a:ln>
        </p:spPr>
      </p:sp>
      <p:sp>
        <p:nvSpPr>
          <p:cNvPr name="AutoShape 30" id="30"/>
          <p:cNvSpPr/>
          <p:nvPr/>
        </p:nvSpPr>
        <p:spPr>
          <a:xfrm flipH="true">
            <a:off x="0" y="9258300"/>
            <a:ext cx="2550140" cy="1028700"/>
          </a:xfrm>
          <a:prstGeom prst="line">
            <a:avLst/>
          </a:prstGeom>
          <a:ln cap="rnd" w="76200">
            <a:solidFill>
              <a:srgbClr val="9AA5DF"/>
            </a:solidFill>
            <a:prstDash val="sysDash"/>
            <a:headEnd type="none" len="sm" w="sm"/>
            <a:tailEnd type="none" len="sm" w="sm"/>
          </a:ln>
        </p:spPr>
      </p:sp>
      <p:sp>
        <p:nvSpPr>
          <p:cNvPr name="AutoShape 31" id="31"/>
          <p:cNvSpPr/>
          <p:nvPr/>
        </p:nvSpPr>
        <p:spPr>
          <a:xfrm flipH="true" flipV="true">
            <a:off x="0" y="0"/>
            <a:ext cx="2562741" cy="1064656"/>
          </a:xfrm>
          <a:prstGeom prst="line">
            <a:avLst/>
          </a:prstGeom>
          <a:ln cap="rnd" w="76200">
            <a:solidFill>
              <a:srgbClr val="9AA5DF"/>
            </a:solidFill>
            <a:prstDash val="sysDash"/>
            <a:headEnd type="none" len="sm" w="sm"/>
            <a:tailEnd type="none" len="sm" w="sm"/>
          </a:ln>
        </p:spPr>
      </p:sp>
      <p:sp>
        <p:nvSpPr>
          <p:cNvPr name="TextBox 32" id="32"/>
          <p:cNvSpPr txBox="true"/>
          <p:nvPr/>
        </p:nvSpPr>
        <p:spPr>
          <a:xfrm rot="0">
            <a:off x="2869864" y="5087873"/>
            <a:ext cx="13035871" cy="1332865"/>
          </a:xfrm>
          <a:prstGeom prst="rect">
            <a:avLst/>
          </a:prstGeom>
        </p:spPr>
        <p:txBody>
          <a:bodyPr anchor="t" rtlCol="false" tIns="0" lIns="0" bIns="0" rIns="0">
            <a:spAutoFit/>
          </a:bodyPr>
          <a:lstStyle/>
          <a:p>
            <a:pPr algn="ctr">
              <a:lnSpc>
                <a:spcPts val="9019"/>
              </a:lnSpc>
            </a:pPr>
            <a:r>
              <a:rPr lang="en-US" sz="8199">
                <a:solidFill>
                  <a:srgbClr val="3A3E61"/>
                </a:solidFill>
                <a:latin typeface="Unique"/>
                <a:ea typeface="Unique"/>
                <a:cs typeface="Unique"/>
                <a:sym typeface="Unique"/>
              </a:rPr>
              <a:t>KEWIRAUSAHAAN - B</a:t>
            </a:r>
          </a:p>
        </p:txBody>
      </p:sp>
      <p:sp>
        <p:nvSpPr>
          <p:cNvPr name="TextBox 33" id="33"/>
          <p:cNvSpPr txBox="true"/>
          <p:nvPr/>
        </p:nvSpPr>
        <p:spPr>
          <a:xfrm rot="0">
            <a:off x="3100151" y="6679659"/>
            <a:ext cx="11654177" cy="3184525"/>
          </a:xfrm>
          <a:prstGeom prst="rect">
            <a:avLst/>
          </a:prstGeom>
        </p:spPr>
        <p:txBody>
          <a:bodyPr anchor="t" rtlCol="false" tIns="0" lIns="0" bIns="0" rIns="0">
            <a:spAutoFit/>
          </a:bodyPr>
          <a:lstStyle/>
          <a:p>
            <a:pPr algn="ctr">
              <a:lnSpc>
                <a:spcPts val="6049"/>
              </a:lnSpc>
            </a:pPr>
            <a:r>
              <a:rPr lang="en-US" sz="5499">
                <a:solidFill>
                  <a:srgbClr val="3A3E61"/>
                </a:solidFill>
                <a:latin typeface="Unique"/>
                <a:ea typeface="Unique"/>
                <a:cs typeface="Unique"/>
                <a:sym typeface="Unique"/>
              </a:rPr>
              <a:t>IDENTIFIKASI MASALAH DAN VALIDASI PELUANG BISNIS DALAM PROSES </a:t>
            </a:r>
            <a:r>
              <a:rPr lang="en-US" sz="5499">
                <a:solidFill>
                  <a:srgbClr val="3A3E61"/>
                </a:solidFill>
                <a:latin typeface="Unique"/>
                <a:ea typeface="Unique"/>
                <a:cs typeface="Unique"/>
                <a:sym typeface="Unique"/>
              </a:rPr>
              <a:t>Kampus</a:t>
            </a:r>
          </a:p>
          <a:p>
            <a:pPr algn="ctr">
              <a:lnSpc>
                <a:spcPts val="6049"/>
              </a:lnSpc>
            </a:pPr>
          </a:p>
          <a:p>
            <a:pPr algn="ctr">
              <a:lnSpc>
                <a:spcPts val="604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AutoShape 2" id="2"/>
          <p:cNvSpPr/>
          <p:nvPr/>
        </p:nvSpPr>
        <p:spPr>
          <a:xfrm>
            <a:off x="5028104" y="9056176"/>
            <a:ext cx="12670879" cy="0"/>
          </a:xfrm>
          <a:prstGeom prst="line">
            <a:avLst/>
          </a:prstGeom>
          <a:ln cap="rnd" w="76200">
            <a:solidFill>
              <a:srgbClr val="3A3E61"/>
            </a:solidFill>
            <a:prstDash val="sysDash"/>
            <a:headEnd type="none" len="sm" w="sm"/>
            <a:tailEnd type="none" len="sm" w="sm"/>
          </a:ln>
        </p:spPr>
      </p:sp>
      <p:sp>
        <p:nvSpPr>
          <p:cNvPr name="Freeform 3" id="3"/>
          <p:cNvSpPr/>
          <p:nvPr/>
        </p:nvSpPr>
        <p:spPr>
          <a:xfrm flipH="false" flipV="false" rot="0">
            <a:off x="-3093881" y="-346189"/>
            <a:ext cx="10979378" cy="10979378"/>
          </a:xfrm>
          <a:custGeom>
            <a:avLst/>
            <a:gdLst/>
            <a:ahLst/>
            <a:cxnLst/>
            <a:rect r="r" b="b" t="t" l="l"/>
            <a:pathLst>
              <a:path h="10979378" w="10979378">
                <a:moveTo>
                  <a:pt x="0" y="0"/>
                </a:moveTo>
                <a:lnTo>
                  <a:pt x="10979378" y="0"/>
                </a:lnTo>
                <a:lnTo>
                  <a:pt x="10979378" y="10979378"/>
                </a:lnTo>
                <a:lnTo>
                  <a:pt x="0" y="10979378"/>
                </a:lnTo>
                <a:lnTo>
                  <a:pt x="0" y="0"/>
                </a:lnTo>
                <a:close/>
              </a:path>
            </a:pathLst>
          </a:custGeom>
          <a:blipFill>
            <a:blip r:embed="rId2"/>
            <a:stretch>
              <a:fillRect l="0" t="0" r="0" b="0"/>
            </a:stretch>
          </a:blipFill>
        </p:spPr>
      </p:sp>
      <p:sp>
        <p:nvSpPr>
          <p:cNvPr name="AutoShape 4" id="4"/>
          <p:cNvSpPr/>
          <p:nvPr/>
        </p:nvSpPr>
        <p:spPr>
          <a:xfrm>
            <a:off x="5028104" y="1206349"/>
            <a:ext cx="12670879" cy="0"/>
          </a:xfrm>
          <a:prstGeom prst="line">
            <a:avLst/>
          </a:prstGeom>
          <a:ln cap="rnd" w="76200">
            <a:solidFill>
              <a:srgbClr val="3A3E61"/>
            </a:solidFill>
            <a:prstDash val="sysDash"/>
            <a:headEnd type="none" len="sm" w="sm"/>
            <a:tailEnd type="none" len="sm" w="sm"/>
          </a:ln>
        </p:spPr>
      </p:sp>
      <p:grpSp>
        <p:nvGrpSpPr>
          <p:cNvPr name="Group 5" id="5"/>
          <p:cNvGrpSpPr/>
          <p:nvPr/>
        </p:nvGrpSpPr>
        <p:grpSpPr>
          <a:xfrm rot="5400000">
            <a:off x="16278923" y="534419"/>
            <a:ext cx="1420060" cy="1420060"/>
            <a:chOff x="0" y="0"/>
            <a:chExt cx="1893413" cy="1893413"/>
          </a:xfrm>
        </p:grpSpPr>
        <p:sp>
          <p:nvSpPr>
            <p:cNvPr name="Freeform 6" id="6"/>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3"/>
              <a:stretch>
                <a:fillRect l="0" t="0" r="0" b="0"/>
              </a:stretch>
            </a:blipFill>
          </p:spPr>
        </p:sp>
        <p:grpSp>
          <p:nvGrpSpPr>
            <p:cNvPr name="Group 7" id="7"/>
            <p:cNvGrpSpPr/>
            <p:nvPr/>
          </p:nvGrpSpPr>
          <p:grpSpPr>
            <a:xfrm rot="0">
              <a:off x="839799" y="527514"/>
              <a:ext cx="213816" cy="21381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0" id="10"/>
            <p:cNvGrpSpPr/>
            <p:nvPr/>
          </p:nvGrpSpPr>
          <p:grpSpPr>
            <a:xfrm rot="0">
              <a:off x="839799" y="1152084"/>
              <a:ext cx="213816" cy="21381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3" id="13"/>
          <p:cNvGrpSpPr/>
          <p:nvPr/>
        </p:nvGrpSpPr>
        <p:grpSpPr>
          <a:xfrm rot="5400000">
            <a:off x="16278923" y="8308046"/>
            <a:ext cx="1420060" cy="1420060"/>
            <a:chOff x="0" y="0"/>
            <a:chExt cx="1893413" cy="1893413"/>
          </a:xfrm>
        </p:grpSpPr>
        <p:sp>
          <p:nvSpPr>
            <p:cNvPr name="Freeform 14" id="14"/>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3"/>
              <a:stretch>
                <a:fillRect l="0" t="0" r="0" b="0"/>
              </a:stretch>
            </a:blipFill>
          </p:spPr>
        </p:sp>
        <p:grpSp>
          <p:nvGrpSpPr>
            <p:cNvPr name="Group 15" id="15"/>
            <p:cNvGrpSpPr/>
            <p:nvPr/>
          </p:nvGrpSpPr>
          <p:grpSpPr>
            <a:xfrm rot="0">
              <a:off x="839799" y="527514"/>
              <a:ext cx="213816" cy="21381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8" id="18"/>
            <p:cNvGrpSpPr/>
            <p:nvPr/>
          </p:nvGrpSpPr>
          <p:grpSpPr>
            <a:xfrm rot="0">
              <a:off x="839799" y="1152084"/>
              <a:ext cx="213816" cy="21381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21" id="21"/>
          <p:cNvGrpSpPr/>
          <p:nvPr/>
        </p:nvGrpSpPr>
        <p:grpSpPr>
          <a:xfrm rot="0">
            <a:off x="16040822" y="3858660"/>
            <a:ext cx="592806" cy="2562077"/>
            <a:chOff x="0" y="0"/>
            <a:chExt cx="790408" cy="3416102"/>
          </a:xfrm>
        </p:grpSpPr>
        <p:sp>
          <p:nvSpPr>
            <p:cNvPr name="Freeform 22" id="22"/>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31094" y="913931"/>
              <a:ext cx="697124" cy="674309"/>
            </a:xfrm>
            <a:custGeom>
              <a:avLst/>
              <a:gdLst/>
              <a:ahLst/>
              <a:cxnLst/>
              <a:rect r="r" b="b" t="t" l="l"/>
              <a:pathLst>
                <a:path h="674309" w="697124">
                  <a:moveTo>
                    <a:pt x="0" y="0"/>
                  </a:moveTo>
                  <a:lnTo>
                    <a:pt x="697125" y="0"/>
                  </a:lnTo>
                  <a:lnTo>
                    <a:pt x="697125" y="674309"/>
                  </a:lnTo>
                  <a:lnTo>
                    <a:pt x="0" y="674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62189"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93283" y="2741793"/>
              <a:ext cx="697124" cy="674309"/>
            </a:xfrm>
            <a:custGeom>
              <a:avLst/>
              <a:gdLst/>
              <a:ahLst/>
              <a:cxnLst/>
              <a:rect r="r" b="b" t="t" l="l"/>
              <a:pathLst>
                <a:path h="674309" w="697124">
                  <a:moveTo>
                    <a:pt x="0" y="0"/>
                  </a:moveTo>
                  <a:lnTo>
                    <a:pt x="697125" y="0"/>
                  </a:lnTo>
                  <a:lnTo>
                    <a:pt x="697125" y="674309"/>
                  </a:lnTo>
                  <a:lnTo>
                    <a:pt x="0" y="6743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6" id="26"/>
          <p:cNvSpPr txBox="true"/>
          <p:nvPr/>
        </p:nvSpPr>
        <p:spPr>
          <a:xfrm rot="0">
            <a:off x="-911472" y="2910734"/>
            <a:ext cx="9600224" cy="3580130"/>
          </a:xfrm>
          <a:prstGeom prst="rect">
            <a:avLst/>
          </a:prstGeom>
        </p:spPr>
        <p:txBody>
          <a:bodyPr anchor="t" rtlCol="false" tIns="0" lIns="0" bIns="0" rIns="0">
            <a:spAutoFit/>
          </a:bodyPr>
          <a:lstStyle/>
          <a:p>
            <a:pPr algn="ctr">
              <a:lnSpc>
                <a:spcPts val="13090"/>
              </a:lnSpc>
            </a:pPr>
            <a:r>
              <a:rPr lang="en-US" sz="11900">
                <a:solidFill>
                  <a:srgbClr val="3A3E61"/>
                </a:solidFill>
                <a:latin typeface="Unique"/>
                <a:ea typeface="Unique"/>
                <a:cs typeface="Unique"/>
                <a:sym typeface="Unique"/>
              </a:rPr>
              <a:t>ANGGOTA </a:t>
            </a:r>
          </a:p>
          <a:p>
            <a:pPr algn="ctr">
              <a:lnSpc>
                <a:spcPts val="13090"/>
              </a:lnSpc>
            </a:pPr>
            <a:r>
              <a:rPr lang="en-US" sz="11900">
                <a:solidFill>
                  <a:srgbClr val="3A3E61"/>
                </a:solidFill>
                <a:latin typeface="Unique"/>
                <a:ea typeface="Unique"/>
                <a:cs typeface="Unique"/>
                <a:sym typeface="Unique"/>
              </a:rPr>
              <a:t>KELOMPOK</a:t>
            </a:r>
          </a:p>
        </p:txBody>
      </p:sp>
      <p:sp>
        <p:nvSpPr>
          <p:cNvPr name="TextBox 27" id="27"/>
          <p:cNvSpPr txBox="true"/>
          <p:nvPr/>
        </p:nvSpPr>
        <p:spPr>
          <a:xfrm rot="0">
            <a:off x="8688751" y="3541853"/>
            <a:ext cx="7161709" cy="3231870"/>
          </a:xfrm>
          <a:prstGeom prst="rect">
            <a:avLst/>
          </a:prstGeom>
        </p:spPr>
        <p:txBody>
          <a:bodyPr anchor="t" rtlCol="false" tIns="0" lIns="0" bIns="0" rIns="0">
            <a:spAutoFit/>
          </a:bodyPr>
          <a:lstStyle/>
          <a:p>
            <a:pPr algn="l" marL="827277" indent="-413639" lvl="1">
              <a:lnSpc>
                <a:spcPts val="4214"/>
              </a:lnSpc>
              <a:buFont typeface="Arial"/>
              <a:buChar char="•"/>
            </a:pPr>
            <a:r>
              <a:rPr lang="en-US" sz="3831">
                <a:solidFill>
                  <a:srgbClr val="3A3E61"/>
                </a:solidFill>
                <a:latin typeface="Vintii"/>
                <a:ea typeface="Vintii"/>
                <a:cs typeface="Vintii"/>
                <a:sym typeface="Vintii"/>
              </a:rPr>
              <a:t>Muhamad Fahri Hidayat – 4525210041  </a:t>
            </a:r>
          </a:p>
          <a:p>
            <a:pPr algn="l" marL="827277" indent="-413639" lvl="1">
              <a:lnSpc>
                <a:spcPts val="4214"/>
              </a:lnSpc>
              <a:buFont typeface="Arial"/>
              <a:buChar char="•"/>
            </a:pPr>
            <a:r>
              <a:rPr lang="en-US" sz="3831">
                <a:solidFill>
                  <a:srgbClr val="3A3E61"/>
                </a:solidFill>
                <a:latin typeface="Vintii"/>
                <a:ea typeface="Vintii"/>
                <a:cs typeface="Vintii"/>
                <a:sym typeface="Vintii"/>
              </a:rPr>
              <a:t>Kahlil Ar'rumi Kaicil Putera – 4525210030 </a:t>
            </a:r>
          </a:p>
          <a:p>
            <a:pPr algn="l" marL="827277" indent="-413639" lvl="1">
              <a:lnSpc>
                <a:spcPts val="4214"/>
              </a:lnSpc>
              <a:buFont typeface="Arial"/>
              <a:buChar char="•"/>
            </a:pPr>
            <a:r>
              <a:rPr lang="en-US" sz="3831">
                <a:solidFill>
                  <a:srgbClr val="3A3E61"/>
                </a:solidFill>
                <a:latin typeface="Vintii"/>
                <a:ea typeface="Vintii"/>
                <a:cs typeface="Vintii"/>
                <a:sym typeface="Vintii"/>
              </a:rPr>
              <a:t>Harisa Malfa Liya - 4525210027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0">
            <a:off x="13758234" y="-1180902"/>
            <a:ext cx="11580664" cy="11580664"/>
          </a:xfrm>
          <a:custGeom>
            <a:avLst/>
            <a:gdLst/>
            <a:ahLst/>
            <a:cxnLst/>
            <a:rect r="r" b="b" t="t" l="l"/>
            <a:pathLst>
              <a:path h="11580664" w="11580664">
                <a:moveTo>
                  <a:pt x="0" y="0"/>
                </a:moveTo>
                <a:lnTo>
                  <a:pt x="11580664" y="0"/>
                </a:lnTo>
                <a:lnTo>
                  <a:pt x="11580664" y="11580665"/>
                </a:lnTo>
                <a:lnTo>
                  <a:pt x="0" y="11580665"/>
                </a:lnTo>
                <a:lnTo>
                  <a:pt x="0" y="0"/>
                </a:lnTo>
                <a:close/>
              </a:path>
            </a:pathLst>
          </a:custGeom>
          <a:blipFill>
            <a:blip r:embed="rId2"/>
            <a:stretch>
              <a:fillRect l="0" t="0" r="0" b="0"/>
            </a:stretch>
          </a:blipFill>
        </p:spPr>
      </p:sp>
      <p:sp>
        <p:nvSpPr>
          <p:cNvPr name="Freeform 3" id="3"/>
          <p:cNvSpPr/>
          <p:nvPr/>
        </p:nvSpPr>
        <p:spPr>
          <a:xfrm flipH="false" flipV="false" rot="0">
            <a:off x="-7053475" y="0"/>
            <a:ext cx="11580664" cy="11580664"/>
          </a:xfrm>
          <a:custGeom>
            <a:avLst/>
            <a:gdLst/>
            <a:ahLst/>
            <a:cxnLst/>
            <a:rect r="r" b="b" t="t" l="l"/>
            <a:pathLst>
              <a:path h="11580664" w="11580664">
                <a:moveTo>
                  <a:pt x="0" y="0"/>
                </a:moveTo>
                <a:lnTo>
                  <a:pt x="11580664" y="0"/>
                </a:lnTo>
                <a:lnTo>
                  <a:pt x="11580664" y="11580664"/>
                </a:lnTo>
                <a:lnTo>
                  <a:pt x="0" y="11580664"/>
                </a:lnTo>
                <a:lnTo>
                  <a:pt x="0" y="0"/>
                </a:lnTo>
                <a:close/>
              </a:path>
            </a:pathLst>
          </a:custGeom>
          <a:blipFill>
            <a:blip r:embed="rId2"/>
            <a:stretch>
              <a:fillRect l="0" t="0" r="0" b="0"/>
            </a:stretch>
          </a:blipFill>
        </p:spPr>
      </p:sp>
      <p:sp>
        <p:nvSpPr>
          <p:cNvPr name="Freeform 4" id="4"/>
          <p:cNvSpPr/>
          <p:nvPr/>
        </p:nvSpPr>
        <p:spPr>
          <a:xfrm flipH="false" flipV="false" rot="0">
            <a:off x="1383715" y="1028700"/>
            <a:ext cx="15520570" cy="8229600"/>
          </a:xfrm>
          <a:custGeom>
            <a:avLst/>
            <a:gdLst/>
            <a:ahLst/>
            <a:cxnLst/>
            <a:rect r="r" b="b" t="t" l="l"/>
            <a:pathLst>
              <a:path h="8229600" w="15520570">
                <a:moveTo>
                  <a:pt x="0" y="0"/>
                </a:moveTo>
                <a:lnTo>
                  <a:pt x="15520570" y="0"/>
                </a:lnTo>
                <a:lnTo>
                  <a:pt x="15520570" y="8229600"/>
                </a:lnTo>
                <a:lnTo>
                  <a:pt x="0" y="8229600"/>
                </a:lnTo>
                <a:lnTo>
                  <a:pt x="0" y="0"/>
                </a:lnTo>
                <a:close/>
              </a:path>
            </a:pathLst>
          </a:custGeom>
          <a:blipFill>
            <a:blip r:embed="rId3"/>
            <a:stretch>
              <a:fillRect l="0" t="-9951" r="0" b="-15699"/>
            </a:stretch>
          </a:blipFill>
        </p:spPr>
      </p:sp>
      <p:sp>
        <p:nvSpPr>
          <p:cNvPr name="Freeform 5" id="5"/>
          <p:cNvSpPr/>
          <p:nvPr/>
        </p:nvSpPr>
        <p:spPr>
          <a:xfrm flipH="false" flipV="false" rot="-5400000">
            <a:off x="5434194" y="-2271724"/>
            <a:ext cx="7465864" cy="14813868"/>
          </a:xfrm>
          <a:custGeom>
            <a:avLst/>
            <a:gdLst/>
            <a:ahLst/>
            <a:cxnLst/>
            <a:rect r="r" b="b" t="t" l="l"/>
            <a:pathLst>
              <a:path h="14813868" w="7465864">
                <a:moveTo>
                  <a:pt x="0" y="0"/>
                </a:moveTo>
                <a:lnTo>
                  <a:pt x="7465865" y="0"/>
                </a:lnTo>
                <a:lnTo>
                  <a:pt x="7465865" y="14813868"/>
                </a:lnTo>
                <a:lnTo>
                  <a:pt x="0" y="14813868"/>
                </a:lnTo>
                <a:lnTo>
                  <a:pt x="0" y="0"/>
                </a:lnTo>
                <a:close/>
              </a:path>
            </a:pathLst>
          </a:custGeom>
          <a:blipFill>
            <a:blip r:embed="rId4"/>
            <a:stretch>
              <a:fillRect l="-29965" t="0" r="0" b="0"/>
            </a:stretch>
          </a:blipFill>
        </p:spPr>
      </p:sp>
      <p:grpSp>
        <p:nvGrpSpPr>
          <p:cNvPr name="Group 6" id="6"/>
          <p:cNvGrpSpPr/>
          <p:nvPr/>
        </p:nvGrpSpPr>
        <p:grpSpPr>
          <a:xfrm rot="0">
            <a:off x="2002909" y="1605368"/>
            <a:ext cx="14217672" cy="7011744"/>
            <a:chOff x="0" y="0"/>
            <a:chExt cx="3744572" cy="1846714"/>
          </a:xfrm>
        </p:grpSpPr>
        <p:sp>
          <p:nvSpPr>
            <p:cNvPr name="Freeform 7" id="7"/>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8" id="8"/>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grpSp>
        <p:nvGrpSpPr>
          <p:cNvPr name="Group 9" id="9"/>
          <p:cNvGrpSpPr/>
          <p:nvPr/>
        </p:nvGrpSpPr>
        <p:grpSpPr>
          <a:xfrm rot="5400000">
            <a:off x="341991" y="293191"/>
            <a:ext cx="1420060" cy="1420060"/>
            <a:chOff x="0" y="0"/>
            <a:chExt cx="1893413" cy="1893413"/>
          </a:xfrm>
        </p:grpSpPr>
        <p:sp>
          <p:nvSpPr>
            <p:cNvPr name="Freeform 10" id="10"/>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1" id="11"/>
            <p:cNvGrpSpPr/>
            <p:nvPr/>
          </p:nvGrpSpPr>
          <p:grpSpPr>
            <a:xfrm rot="0">
              <a:off x="839799" y="527514"/>
              <a:ext cx="213816" cy="213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4" id="14"/>
            <p:cNvGrpSpPr/>
            <p:nvPr/>
          </p:nvGrpSpPr>
          <p:grpSpPr>
            <a:xfrm rot="0">
              <a:off x="839799" y="1152084"/>
              <a:ext cx="213816" cy="21381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7" id="17"/>
          <p:cNvGrpSpPr/>
          <p:nvPr/>
        </p:nvGrpSpPr>
        <p:grpSpPr>
          <a:xfrm rot="5400000">
            <a:off x="16549270" y="8548270"/>
            <a:ext cx="1420060" cy="1420060"/>
            <a:chOff x="0" y="0"/>
            <a:chExt cx="1893413" cy="1893413"/>
          </a:xfrm>
        </p:grpSpPr>
        <p:sp>
          <p:nvSpPr>
            <p:cNvPr name="Freeform 18" id="18"/>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9" id="19"/>
            <p:cNvGrpSpPr/>
            <p:nvPr/>
          </p:nvGrpSpPr>
          <p:grpSpPr>
            <a:xfrm rot="0">
              <a:off x="839799" y="527514"/>
              <a:ext cx="213816" cy="2138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22" id="22"/>
            <p:cNvGrpSpPr/>
            <p:nvPr/>
          </p:nvGrpSpPr>
          <p:grpSpPr>
            <a:xfrm rot="0">
              <a:off x="839799" y="1152084"/>
              <a:ext cx="213816" cy="21381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25" id="25"/>
          <p:cNvGrpSpPr/>
          <p:nvPr/>
        </p:nvGrpSpPr>
        <p:grpSpPr>
          <a:xfrm rot="0">
            <a:off x="790599" y="1963635"/>
            <a:ext cx="522843" cy="5291591"/>
            <a:chOff x="0" y="0"/>
            <a:chExt cx="697124" cy="7055455"/>
          </a:xfrm>
        </p:grpSpPr>
        <p:sp>
          <p:nvSpPr>
            <p:cNvPr name="Freeform 26" id="26"/>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3" id="33"/>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34" id="34"/>
          <p:cNvGrpSpPr/>
          <p:nvPr/>
        </p:nvGrpSpPr>
        <p:grpSpPr>
          <a:xfrm rot="0">
            <a:off x="16997878" y="2866521"/>
            <a:ext cx="522843" cy="5291591"/>
            <a:chOff x="0" y="0"/>
            <a:chExt cx="697124" cy="7055455"/>
          </a:xfrm>
        </p:grpSpPr>
        <p:sp>
          <p:nvSpPr>
            <p:cNvPr name="Freeform 35" id="35"/>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1" id="41"/>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2" id="42"/>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43" id="43"/>
          <p:cNvSpPr txBox="true"/>
          <p:nvPr/>
        </p:nvSpPr>
        <p:spPr>
          <a:xfrm rot="0">
            <a:off x="2425522" y="2493880"/>
            <a:ext cx="13795059" cy="6036872"/>
          </a:xfrm>
          <a:prstGeom prst="rect">
            <a:avLst/>
          </a:prstGeom>
        </p:spPr>
        <p:txBody>
          <a:bodyPr anchor="t" rtlCol="false" tIns="0" lIns="0" bIns="0" rIns="0">
            <a:spAutoFit/>
          </a:bodyPr>
          <a:lstStyle/>
          <a:p>
            <a:pPr algn="l">
              <a:lnSpc>
                <a:spcPts val="3686"/>
              </a:lnSpc>
            </a:pPr>
            <a:r>
              <a:rPr lang="en-US" sz="3021">
                <a:solidFill>
                  <a:srgbClr val="3A3E61"/>
                </a:solidFill>
                <a:latin typeface="Vintii"/>
                <a:ea typeface="Vintii"/>
                <a:cs typeface="Vintii"/>
                <a:sym typeface="Vintii"/>
              </a:rPr>
              <a:t>Tiga Masalah Teratas yang Dipilih untuk Tahap Validasi</a:t>
            </a:r>
          </a:p>
          <a:p>
            <a:pPr algn="l">
              <a:lnSpc>
                <a:spcPts val="3686"/>
              </a:lnSpc>
            </a:pPr>
            <a:r>
              <a:rPr lang="en-US" sz="3021">
                <a:solidFill>
                  <a:srgbClr val="3A3E61"/>
                </a:solidFill>
                <a:latin typeface="Vintii"/>
                <a:ea typeface="Vintii"/>
                <a:cs typeface="Vintii"/>
                <a:sym typeface="Vintii"/>
              </a:rPr>
              <a:t>1. Ketersediaan Buku Tidak Real-Time pada Katalog Perpustakaan (Peringkat 1)</a:t>
            </a:r>
          </a:p>
          <a:p>
            <a:pPr algn="l">
              <a:lnSpc>
                <a:spcPts val="3686"/>
              </a:lnSpc>
            </a:pPr>
            <a:r>
              <a:rPr lang="en-US" sz="3021">
                <a:solidFill>
                  <a:srgbClr val="3A3E61"/>
                </a:solidFill>
                <a:latin typeface="Vintii"/>
                <a:ea typeface="Vintii"/>
                <a:cs typeface="Vintii"/>
                <a:sym typeface="Vintii"/>
              </a:rPr>
              <a:t>Masalah ini muncul setiap kali mahasiswa hendak mencari referensi, sehingga intensitasnya </a:t>
            </a:r>
          </a:p>
          <a:p>
            <a:pPr algn="l">
              <a:lnSpc>
                <a:spcPts val="3686"/>
              </a:lnSpc>
            </a:pPr>
            <a:r>
              <a:rPr lang="en-US" sz="3021">
                <a:solidFill>
                  <a:srgbClr val="3A3E61"/>
                </a:solidFill>
                <a:latin typeface="Vintii"/>
                <a:ea typeface="Vintii"/>
                <a:cs typeface="Vintii"/>
                <a:sym typeface="Vintii"/>
              </a:rPr>
              <a:t>harian pada masa penyusunan tugas dan skripsi. Dampaknya bersifat langsung berupa waktu </a:t>
            </a:r>
          </a:p>
          <a:p>
            <a:pPr algn="l">
              <a:lnSpc>
                <a:spcPts val="3686"/>
              </a:lnSpc>
            </a:pPr>
            <a:r>
              <a:rPr lang="en-US" sz="3021">
                <a:solidFill>
                  <a:srgbClr val="3A3E61"/>
                </a:solidFill>
                <a:latin typeface="Vintii"/>
                <a:ea typeface="Vintii"/>
                <a:cs typeface="Vintii"/>
                <a:sym typeface="Vintii"/>
              </a:rPr>
              <a:t>perjalanan dan jam produktif yang hilang karena buku ternyata sedang dipinjam atau tidak </a:t>
            </a:r>
          </a:p>
          <a:p>
            <a:pPr algn="l">
              <a:lnSpc>
                <a:spcPts val="3686"/>
              </a:lnSpc>
            </a:pPr>
            <a:r>
              <a:rPr lang="en-US" sz="3021">
                <a:solidFill>
                  <a:srgbClr val="3A3E61"/>
                </a:solidFill>
                <a:latin typeface="Vintii"/>
                <a:ea typeface="Vintii"/>
                <a:cs typeface="Vintii"/>
                <a:sym typeface="Vintii"/>
              </a:rPr>
              <a:t>ada di rak. Seluruh narasumber berada di lingkungan kampus yang sama, sehingga tim dapat </a:t>
            </a:r>
          </a:p>
          <a:p>
            <a:pPr algn="l">
              <a:lnSpc>
                <a:spcPts val="3686"/>
              </a:lnSpc>
            </a:pPr>
            <a:r>
              <a:rPr lang="en-US" sz="3021">
                <a:solidFill>
                  <a:srgbClr val="3A3E61"/>
                </a:solidFill>
                <a:latin typeface="Vintii"/>
                <a:ea typeface="Vintii"/>
                <a:cs typeface="Vintii"/>
                <a:sym typeface="Vintii"/>
              </a:rPr>
              <a:t>melakukan wawancara mendalam dan observasi langsung di ruang perpustakaan tanpa </a:t>
            </a:r>
          </a:p>
          <a:p>
            <a:pPr algn="l">
              <a:lnSpc>
                <a:spcPts val="3686"/>
              </a:lnSpc>
            </a:pPr>
            <a:r>
              <a:rPr lang="en-US" sz="3021">
                <a:solidFill>
                  <a:srgbClr val="3A3E61"/>
                </a:solidFill>
                <a:latin typeface="Vintii"/>
                <a:ea typeface="Vintii"/>
                <a:cs typeface="Vintii"/>
                <a:sym typeface="Vintii"/>
              </a:rPr>
              <a:t>hambatan birokrasi maupun jarak.</a:t>
            </a:r>
          </a:p>
          <a:p>
            <a:pPr algn="l">
              <a:lnSpc>
                <a:spcPts val="3686"/>
              </a:lnSpc>
            </a:pPr>
          </a:p>
        </p:txBody>
      </p:sp>
      <p:sp>
        <p:nvSpPr>
          <p:cNvPr name="TextBox 44" id="44"/>
          <p:cNvSpPr txBox="true"/>
          <p:nvPr/>
        </p:nvSpPr>
        <p:spPr>
          <a:xfrm rot="0">
            <a:off x="5297611" y="1511545"/>
            <a:ext cx="7628267" cy="847029"/>
          </a:xfrm>
          <a:prstGeom prst="rect">
            <a:avLst/>
          </a:prstGeom>
        </p:spPr>
        <p:txBody>
          <a:bodyPr anchor="t" rtlCol="false" tIns="0" lIns="0" bIns="0" rIns="0">
            <a:spAutoFit/>
          </a:bodyPr>
          <a:lstStyle/>
          <a:p>
            <a:pPr algn="ctr">
              <a:lnSpc>
                <a:spcPts val="5714"/>
              </a:lnSpc>
            </a:pPr>
            <a:r>
              <a:rPr lang="en-US" sz="5195">
                <a:solidFill>
                  <a:srgbClr val="3A3E61"/>
                </a:solidFill>
                <a:latin typeface="Unique"/>
                <a:ea typeface="Unique"/>
                <a:cs typeface="Unique"/>
                <a:sym typeface="Unique"/>
              </a:rPr>
              <a:t>Masalah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0">
            <a:off x="13758234" y="-1180902"/>
            <a:ext cx="11580664" cy="11580664"/>
          </a:xfrm>
          <a:custGeom>
            <a:avLst/>
            <a:gdLst/>
            <a:ahLst/>
            <a:cxnLst/>
            <a:rect r="r" b="b" t="t" l="l"/>
            <a:pathLst>
              <a:path h="11580664" w="11580664">
                <a:moveTo>
                  <a:pt x="0" y="0"/>
                </a:moveTo>
                <a:lnTo>
                  <a:pt x="11580664" y="0"/>
                </a:lnTo>
                <a:lnTo>
                  <a:pt x="11580664" y="11580665"/>
                </a:lnTo>
                <a:lnTo>
                  <a:pt x="0" y="11580665"/>
                </a:lnTo>
                <a:lnTo>
                  <a:pt x="0" y="0"/>
                </a:lnTo>
                <a:close/>
              </a:path>
            </a:pathLst>
          </a:custGeom>
          <a:blipFill>
            <a:blip r:embed="rId2"/>
            <a:stretch>
              <a:fillRect l="0" t="0" r="0" b="0"/>
            </a:stretch>
          </a:blipFill>
        </p:spPr>
      </p:sp>
      <p:sp>
        <p:nvSpPr>
          <p:cNvPr name="Freeform 3" id="3"/>
          <p:cNvSpPr/>
          <p:nvPr/>
        </p:nvSpPr>
        <p:spPr>
          <a:xfrm flipH="false" flipV="false" rot="0">
            <a:off x="-7053475" y="0"/>
            <a:ext cx="11580664" cy="11580664"/>
          </a:xfrm>
          <a:custGeom>
            <a:avLst/>
            <a:gdLst/>
            <a:ahLst/>
            <a:cxnLst/>
            <a:rect r="r" b="b" t="t" l="l"/>
            <a:pathLst>
              <a:path h="11580664" w="11580664">
                <a:moveTo>
                  <a:pt x="0" y="0"/>
                </a:moveTo>
                <a:lnTo>
                  <a:pt x="11580664" y="0"/>
                </a:lnTo>
                <a:lnTo>
                  <a:pt x="11580664" y="11580664"/>
                </a:lnTo>
                <a:lnTo>
                  <a:pt x="0" y="11580664"/>
                </a:lnTo>
                <a:lnTo>
                  <a:pt x="0" y="0"/>
                </a:lnTo>
                <a:close/>
              </a:path>
            </a:pathLst>
          </a:custGeom>
          <a:blipFill>
            <a:blip r:embed="rId2"/>
            <a:stretch>
              <a:fillRect l="0" t="0" r="0" b="0"/>
            </a:stretch>
          </a:blipFill>
        </p:spPr>
      </p:sp>
      <p:sp>
        <p:nvSpPr>
          <p:cNvPr name="Freeform 4" id="4"/>
          <p:cNvSpPr/>
          <p:nvPr/>
        </p:nvSpPr>
        <p:spPr>
          <a:xfrm flipH="false" flipV="false" rot="0">
            <a:off x="1383715" y="1028700"/>
            <a:ext cx="15520570" cy="8229600"/>
          </a:xfrm>
          <a:custGeom>
            <a:avLst/>
            <a:gdLst/>
            <a:ahLst/>
            <a:cxnLst/>
            <a:rect r="r" b="b" t="t" l="l"/>
            <a:pathLst>
              <a:path h="8229600" w="15520570">
                <a:moveTo>
                  <a:pt x="0" y="0"/>
                </a:moveTo>
                <a:lnTo>
                  <a:pt x="15520570" y="0"/>
                </a:lnTo>
                <a:lnTo>
                  <a:pt x="15520570" y="8229600"/>
                </a:lnTo>
                <a:lnTo>
                  <a:pt x="0" y="8229600"/>
                </a:lnTo>
                <a:lnTo>
                  <a:pt x="0" y="0"/>
                </a:lnTo>
                <a:close/>
              </a:path>
            </a:pathLst>
          </a:custGeom>
          <a:blipFill>
            <a:blip r:embed="rId3"/>
            <a:stretch>
              <a:fillRect l="0" t="-9951" r="0" b="-15699"/>
            </a:stretch>
          </a:blipFill>
        </p:spPr>
      </p:sp>
      <p:sp>
        <p:nvSpPr>
          <p:cNvPr name="Freeform 5" id="5"/>
          <p:cNvSpPr/>
          <p:nvPr/>
        </p:nvSpPr>
        <p:spPr>
          <a:xfrm flipH="false" flipV="false" rot="-5400000">
            <a:off x="5434194" y="-2271724"/>
            <a:ext cx="7465864" cy="14813868"/>
          </a:xfrm>
          <a:custGeom>
            <a:avLst/>
            <a:gdLst/>
            <a:ahLst/>
            <a:cxnLst/>
            <a:rect r="r" b="b" t="t" l="l"/>
            <a:pathLst>
              <a:path h="14813868" w="7465864">
                <a:moveTo>
                  <a:pt x="0" y="0"/>
                </a:moveTo>
                <a:lnTo>
                  <a:pt x="7465865" y="0"/>
                </a:lnTo>
                <a:lnTo>
                  <a:pt x="7465865" y="14813868"/>
                </a:lnTo>
                <a:lnTo>
                  <a:pt x="0" y="14813868"/>
                </a:lnTo>
                <a:lnTo>
                  <a:pt x="0" y="0"/>
                </a:lnTo>
                <a:close/>
              </a:path>
            </a:pathLst>
          </a:custGeom>
          <a:blipFill>
            <a:blip r:embed="rId4"/>
            <a:stretch>
              <a:fillRect l="-29965" t="0" r="0" b="0"/>
            </a:stretch>
          </a:blipFill>
        </p:spPr>
      </p:sp>
      <p:grpSp>
        <p:nvGrpSpPr>
          <p:cNvPr name="Group 6" id="6"/>
          <p:cNvGrpSpPr/>
          <p:nvPr/>
        </p:nvGrpSpPr>
        <p:grpSpPr>
          <a:xfrm rot="0">
            <a:off x="2002909" y="1605368"/>
            <a:ext cx="14217672" cy="7011744"/>
            <a:chOff x="0" y="0"/>
            <a:chExt cx="3744572" cy="1846714"/>
          </a:xfrm>
        </p:grpSpPr>
        <p:sp>
          <p:nvSpPr>
            <p:cNvPr name="Freeform 7" id="7"/>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8" id="8"/>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grpSp>
        <p:nvGrpSpPr>
          <p:cNvPr name="Group 9" id="9"/>
          <p:cNvGrpSpPr/>
          <p:nvPr/>
        </p:nvGrpSpPr>
        <p:grpSpPr>
          <a:xfrm rot="5400000">
            <a:off x="341991" y="293191"/>
            <a:ext cx="1420060" cy="1420060"/>
            <a:chOff x="0" y="0"/>
            <a:chExt cx="1893413" cy="1893413"/>
          </a:xfrm>
        </p:grpSpPr>
        <p:sp>
          <p:nvSpPr>
            <p:cNvPr name="Freeform 10" id="10"/>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1" id="11"/>
            <p:cNvGrpSpPr/>
            <p:nvPr/>
          </p:nvGrpSpPr>
          <p:grpSpPr>
            <a:xfrm rot="0">
              <a:off x="839799" y="527514"/>
              <a:ext cx="213816" cy="213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4" id="14"/>
            <p:cNvGrpSpPr/>
            <p:nvPr/>
          </p:nvGrpSpPr>
          <p:grpSpPr>
            <a:xfrm rot="0">
              <a:off x="839799" y="1152084"/>
              <a:ext cx="213816" cy="21381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7" id="17"/>
          <p:cNvGrpSpPr/>
          <p:nvPr/>
        </p:nvGrpSpPr>
        <p:grpSpPr>
          <a:xfrm rot="5400000">
            <a:off x="16549270" y="8548270"/>
            <a:ext cx="1420060" cy="1420060"/>
            <a:chOff x="0" y="0"/>
            <a:chExt cx="1893413" cy="1893413"/>
          </a:xfrm>
        </p:grpSpPr>
        <p:sp>
          <p:nvSpPr>
            <p:cNvPr name="Freeform 18" id="18"/>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9" id="19"/>
            <p:cNvGrpSpPr/>
            <p:nvPr/>
          </p:nvGrpSpPr>
          <p:grpSpPr>
            <a:xfrm rot="0">
              <a:off x="839799" y="527514"/>
              <a:ext cx="213816" cy="2138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22" id="22"/>
            <p:cNvGrpSpPr/>
            <p:nvPr/>
          </p:nvGrpSpPr>
          <p:grpSpPr>
            <a:xfrm rot="0">
              <a:off x="839799" y="1152084"/>
              <a:ext cx="213816" cy="21381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25" id="25"/>
          <p:cNvGrpSpPr/>
          <p:nvPr/>
        </p:nvGrpSpPr>
        <p:grpSpPr>
          <a:xfrm rot="0">
            <a:off x="790599" y="1963635"/>
            <a:ext cx="522843" cy="5291591"/>
            <a:chOff x="0" y="0"/>
            <a:chExt cx="697124" cy="7055455"/>
          </a:xfrm>
        </p:grpSpPr>
        <p:sp>
          <p:nvSpPr>
            <p:cNvPr name="Freeform 26" id="26"/>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3" id="33"/>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34" id="34"/>
          <p:cNvGrpSpPr/>
          <p:nvPr/>
        </p:nvGrpSpPr>
        <p:grpSpPr>
          <a:xfrm rot="0">
            <a:off x="16997878" y="2866521"/>
            <a:ext cx="522843" cy="5291591"/>
            <a:chOff x="0" y="0"/>
            <a:chExt cx="697124" cy="7055455"/>
          </a:xfrm>
        </p:grpSpPr>
        <p:sp>
          <p:nvSpPr>
            <p:cNvPr name="Freeform 35" id="35"/>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1" id="41"/>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2" id="42"/>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43" id="43"/>
          <p:cNvSpPr txBox="true"/>
          <p:nvPr/>
        </p:nvSpPr>
        <p:spPr>
          <a:xfrm rot="0">
            <a:off x="2554848" y="2125064"/>
            <a:ext cx="13224556" cy="6036872"/>
          </a:xfrm>
          <a:prstGeom prst="rect">
            <a:avLst/>
          </a:prstGeom>
        </p:spPr>
        <p:txBody>
          <a:bodyPr anchor="t" rtlCol="false" tIns="0" lIns="0" bIns="0" rIns="0">
            <a:spAutoFit/>
          </a:bodyPr>
          <a:lstStyle/>
          <a:p>
            <a:pPr algn="l">
              <a:lnSpc>
                <a:spcPts val="3686"/>
              </a:lnSpc>
            </a:pPr>
            <a:r>
              <a:rPr lang="en-US" sz="3021">
                <a:solidFill>
                  <a:srgbClr val="3A3E61"/>
                </a:solidFill>
                <a:latin typeface="Vintii"/>
                <a:ea typeface="Vintii"/>
                <a:cs typeface="Vintii"/>
                <a:sym typeface="Vintii"/>
              </a:rPr>
              <a:t>2. Keterlambatan Pengembalian Buku Pinjaman (Peringkat 2)</a:t>
            </a:r>
          </a:p>
          <a:p>
            <a:pPr algn="l">
              <a:lnSpc>
                <a:spcPts val="3686"/>
              </a:lnSpc>
            </a:pPr>
            <a:r>
              <a:rPr lang="en-US" sz="3021">
                <a:solidFill>
                  <a:srgbClr val="3A3E61"/>
                </a:solidFill>
                <a:latin typeface="Vintii"/>
                <a:ea typeface="Vintii"/>
                <a:cs typeface="Vintii"/>
                <a:sym typeface="Vintii"/>
              </a:rPr>
              <a:t>Jatuh tempo peminjaman berulang setiap minggu dan hampir seluruh mahasiswa peminjam </a:t>
            </a:r>
          </a:p>
          <a:p>
            <a:pPr algn="l">
              <a:lnSpc>
                <a:spcPts val="3686"/>
              </a:lnSpc>
            </a:pPr>
            <a:r>
              <a:rPr lang="en-US" sz="3021">
                <a:solidFill>
                  <a:srgbClr val="3A3E61"/>
                </a:solidFill>
                <a:latin typeface="Vintii"/>
                <a:ea typeface="Vintii"/>
                <a:cs typeface="Vintii"/>
                <a:sym typeface="Vintii"/>
              </a:rPr>
              <a:t>pernah mengalaminya. Kerugian yang ditimbulkan bersifat finansial langsung berupa denda </a:t>
            </a:r>
          </a:p>
          <a:p>
            <a:pPr algn="l">
              <a:lnSpc>
                <a:spcPts val="3686"/>
              </a:lnSpc>
            </a:pPr>
            <a:r>
              <a:rPr lang="en-US" sz="3021">
                <a:solidFill>
                  <a:srgbClr val="3A3E61"/>
                </a:solidFill>
                <a:latin typeface="Vintii"/>
                <a:ea typeface="Vintii"/>
                <a:cs typeface="Vintii"/>
                <a:sym typeface="Vintii"/>
              </a:rPr>
              <a:t>keterlambatan, ditambah pemblokiran hak peminjaman yang menghambat pengerjaan tugas </a:t>
            </a:r>
          </a:p>
          <a:p>
            <a:pPr algn="l">
              <a:lnSpc>
                <a:spcPts val="3686"/>
              </a:lnSpc>
            </a:pPr>
            <a:r>
              <a:rPr lang="en-US" sz="3021">
                <a:solidFill>
                  <a:srgbClr val="3A3E61"/>
                </a:solidFill>
                <a:latin typeface="Vintii"/>
                <a:ea typeface="Vintii"/>
                <a:cs typeface="Vintii"/>
                <a:sym typeface="Vintii"/>
              </a:rPr>
              <a:t>berikutnya. Narasumber merupakan rekan satu lingkungan perkuliahan, sehingga tim mudah </a:t>
            </a:r>
          </a:p>
          <a:p>
            <a:pPr algn="l">
              <a:lnSpc>
                <a:spcPts val="3686"/>
              </a:lnSpc>
            </a:pPr>
            <a:r>
              <a:rPr lang="en-US" sz="3021">
                <a:solidFill>
                  <a:srgbClr val="3A3E61"/>
                </a:solidFill>
                <a:latin typeface="Vintii"/>
                <a:ea typeface="Vintii"/>
                <a:cs typeface="Vintii"/>
                <a:sym typeface="Vintii"/>
              </a:rPr>
              <a:t>menggali solusi darurat yang selama ini mereka terapkan, seperti menitipkan pengembalian </a:t>
            </a:r>
          </a:p>
          <a:p>
            <a:pPr algn="l">
              <a:lnSpc>
                <a:spcPts val="3686"/>
              </a:lnSpc>
            </a:pPr>
            <a:r>
              <a:rPr lang="en-US" sz="3021">
                <a:solidFill>
                  <a:srgbClr val="3A3E61"/>
                </a:solidFill>
                <a:latin typeface="Vintii"/>
                <a:ea typeface="Vintii"/>
                <a:cs typeface="Vintii"/>
                <a:sym typeface="Vintii"/>
              </a:rPr>
              <a:t>kepada teman.</a:t>
            </a:r>
          </a:p>
          <a:p>
            <a:pPr algn="l">
              <a:lnSpc>
                <a:spcPts val="368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0">
            <a:off x="13758234" y="-1180902"/>
            <a:ext cx="11580664" cy="11580664"/>
          </a:xfrm>
          <a:custGeom>
            <a:avLst/>
            <a:gdLst/>
            <a:ahLst/>
            <a:cxnLst/>
            <a:rect r="r" b="b" t="t" l="l"/>
            <a:pathLst>
              <a:path h="11580664" w="11580664">
                <a:moveTo>
                  <a:pt x="0" y="0"/>
                </a:moveTo>
                <a:lnTo>
                  <a:pt x="11580664" y="0"/>
                </a:lnTo>
                <a:lnTo>
                  <a:pt x="11580664" y="11580665"/>
                </a:lnTo>
                <a:lnTo>
                  <a:pt x="0" y="11580665"/>
                </a:lnTo>
                <a:lnTo>
                  <a:pt x="0" y="0"/>
                </a:lnTo>
                <a:close/>
              </a:path>
            </a:pathLst>
          </a:custGeom>
          <a:blipFill>
            <a:blip r:embed="rId2"/>
            <a:stretch>
              <a:fillRect l="0" t="0" r="0" b="0"/>
            </a:stretch>
          </a:blipFill>
        </p:spPr>
      </p:sp>
      <p:sp>
        <p:nvSpPr>
          <p:cNvPr name="Freeform 3" id="3"/>
          <p:cNvSpPr/>
          <p:nvPr/>
        </p:nvSpPr>
        <p:spPr>
          <a:xfrm flipH="false" flipV="false" rot="0">
            <a:off x="-7053475" y="0"/>
            <a:ext cx="11580664" cy="11580664"/>
          </a:xfrm>
          <a:custGeom>
            <a:avLst/>
            <a:gdLst/>
            <a:ahLst/>
            <a:cxnLst/>
            <a:rect r="r" b="b" t="t" l="l"/>
            <a:pathLst>
              <a:path h="11580664" w="11580664">
                <a:moveTo>
                  <a:pt x="0" y="0"/>
                </a:moveTo>
                <a:lnTo>
                  <a:pt x="11580664" y="0"/>
                </a:lnTo>
                <a:lnTo>
                  <a:pt x="11580664" y="11580664"/>
                </a:lnTo>
                <a:lnTo>
                  <a:pt x="0" y="11580664"/>
                </a:lnTo>
                <a:lnTo>
                  <a:pt x="0" y="0"/>
                </a:lnTo>
                <a:close/>
              </a:path>
            </a:pathLst>
          </a:custGeom>
          <a:blipFill>
            <a:blip r:embed="rId2"/>
            <a:stretch>
              <a:fillRect l="0" t="0" r="0" b="0"/>
            </a:stretch>
          </a:blipFill>
        </p:spPr>
      </p:sp>
      <p:sp>
        <p:nvSpPr>
          <p:cNvPr name="Freeform 4" id="4"/>
          <p:cNvSpPr/>
          <p:nvPr/>
        </p:nvSpPr>
        <p:spPr>
          <a:xfrm flipH="false" flipV="false" rot="0">
            <a:off x="1383715" y="1028700"/>
            <a:ext cx="15520570" cy="8229600"/>
          </a:xfrm>
          <a:custGeom>
            <a:avLst/>
            <a:gdLst/>
            <a:ahLst/>
            <a:cxnLst/>
            <a:rect r="r" b="b" t="t" l="l"/>
            <a:pathLst>
              <a:path h="8229600" w="15520570">
                <a:moveTo>
                  <a:pt x="0" y="0"/>
                </a:moveTo>
                <a:lnTo>
                  <a:pt x="15520570" y="0"/>
                </a:lnTo>
                <a:lnTo>
                  <a:pt x="15520570" y="8229600"/>
                </a:lnTo>
                <a:lnTo>
                  <a:pt x="0" y="8229600"/>
                </a:lnTo>
                <a:lnTo>
                  <a:pt x="0" y="0"/>
                </a:lnTo>
                <a:close/>
              </a:path>
            </a:pathLst>
          </a:custGeom>
          <a:blipFill>
            <a:blip r:embed="rId3"/>
            <a:stretch>
              <a:fillRect l="0" t="-9951" r="0" b="-15699"/>
            </a:stretch>
          </a:blipFill>
        </p:spPr>
      </p:sp>
      <p:sp>
        <p:nvSpPr>
          <p:cNvPr name="Freeform 5" id="5"/>
          <p:cNvSpPr/>
          <p:nvPr/>
        </p:nvSpPr>
        <p:spPr>
          <a:xfrm flipH="false" flipV="false" rot="-5400000">
            <a:off x="5434194" y="-2271724"/>
            <a:ext cx="7465864" cy="14813868"/>
          </a:xfrm>
          <a:custGeom>
            <a:avLst/>
            <a:gdLst/>
            <a:ahLst/>
            <a:cxnLst/>
            <a:rect r="r" b="b" t="t" l="l"/>
            <a:pathLst>
              <a:path h="14813868" w="7465864">
                <a:moveTo>
                  <a:pt x="0" y="0"/>
                </a:moveTo>
                <a:lnTo>
                  <a:pt x="7465865" y="0"/>
                </a:lnTo>
                <a:lnTo>
                  <a:pt x="7465865" y="14813868"/>
                </a:lnTo>
                <a:lnTo>
                  <a:pt x="0" y="14813868"/>
                </a:lnTo>
                <a:lnTo>
                  <a:pt x="0" y="0"/>
                </a:lnTo>
                <a:close/>
              </a:path>
            </a:pathLst>
          </a:custGeom>
          <a:blipFill>
            <a:blip r:embed="rId4"/>
            <a:stretch>
              <a:fillRect l="-29965" t="0" r="0" b="0"/>
            </a:stretch>
          </a:blipFill>
        </p:spPr>
      </p:sp>
      <p:grpSp>
        <p:nvGrpSpPr>
          <p:cNvPr name="Group 6" id="6"/>
          <p:cNvGrpSpPr/>
          <p:nvPr/>
        </p:nvGrpSpPr>
        <p:grpSpPr>
          <a:xfrm rot="0">
            <a:off x="2002909" y="1605368"/>
            <a:ext cx="14217672" cy="7011744"/>
            <a:chOff x="0" y="0"/>
            <a:chExt cx="3744572" cy="1846714"/>
          </a:xfrm>
        </p:grpSpPr>
        <p:sp>
          <p:nvSpPr>
            <p:cNvPr name="Freeform 7" id="7"/>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8" id="8"/>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grpSp>
        <p:nvGrpSpPr>
          <p:cNvPr name="Group 9" id="9"/>
          <p:cNvGrpSpPr/>
          <p:nvPr/>
        </p:nvGrpSpPr>
        <p:grpSpPr>
          <a:xfrm rot="5400000">
            <a:off x="341991" y="293191"/>
            <a:ext cx="1420060" cy="1420060"/>
            <a:chOff x="0" y="0"/>
            <a:chExt cx="1893413" cy="1893413"/>
          </a:xfrm>
        </p:grpSpPr>
        <p:sp>
          <p:nvSpPr>
            <p:cNvPr name="Freeform 10" id="10"/>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1" id="11"/>
            <p:cNvGrpSpPr/>
            <p:nvPr/>
          </p:nvGrpSpPr>
          <p:grpSpPr>
            <a:xfrm rot="0">
              <a:off x="839799" y="527514"/>
              <a:ext cx="213816" cy="213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14" id="14"/>
            <p:cNvGrpSpPr/>
            <p:nvPr/>
          </p:nvGrpSpPr>
          <p:grpSpPr>
            <a:xfrm rot="0">
              <a:off x="839799" y="1152084"/>
              <a:ext cx="213816" cy="21381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17" id="17"/>
          <p:cNvGrpSpPr/>
          <p:nvPr/>
        </p:nvGrpSpPr>
        <p:grpSpPr>
          <a:xfrm rot="5400000">
            <a:off x="16549270" y="8548270"/>
            <a:ext cx="1420060" cy="1420060"/>
            <a:chOff x="0" y="0"/>
            <a:chExt cx="1893413" cy="1893413"/>
          </a:xfrm>
        </p:grpSpPr>
        <p:sp>
          <p:nvSpPr>
            <p:cNvPr name="Freeform 18" id="18"/>
            <p:cNvSpPr/>
            <p:nvPr/>
          </p:nvSpPr>
          <p:spPr>
            <a:xfrm flipH="false" flipV="false" rot="0">
              <a:off x="0" y="0"/>
              <a:ext cx="1893413" cy="1893413"/>
            </a:xfrm>
            <a:custGeom>
              <a:avLst/>
              <a:gdLst/>
              <a:ahLst/>
              <a:cxnLst/>
              <a:rect r="r" b="b" t="t" l="l"/>
              <a:pathLst>
                <a:path h="1893413" w="1893413">
                  <a:moveTo>
                    <a:pt x="0" y="0"/>
                  </a:moveTo>
                  <a:lnTo>
                    <a:pt x="1893413" y="0"/>
                  </a:lnTo>
                  <a:lnTo>
                    <a:pt x="1893413" y="1893413"/>
                  </a:lnTo>
                  <a:lnTo>
                    <a:pt x="0" y="1893413"/>
                  </a:lnTo>
                  <a:lnTo>
                    <a:pt x="0" y="0"/>
                  </a:lnTo>
                  <a:close/>
                </a:path>
              </a:pathLst>
            </a:custGeom>
            <a:blipFill>
              <a:blip r:embed="rId5"/>
              <a:stretch>
                <a:fillRect l="0" t="0" r="0" b="0"/>
              </a:stretch>
            </a:blipFill>
          </p:spPr>
        </p:sp>
        <p:grpSp>
          <p:nvGrpSpPr>
            <p:cNvPr name="Group 19" id="19"/>
            <p:cNvGrpSpPr/>
            <p:nvPr/>
          </p:nvGrpSpPr>
          <p:grpSpPr>
            <a:xfrm rot="0">
              <a:off x="839799" y="527514"/>
              <a:ext cx="213816" cy="21381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1" id="21"/>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nvGrpSpPr>
            <p:cNvPr name="Group 22" id="22"/>
            <p:cNvGrpSpPr/>
            <p:nvPr/>
          </p:nvGrpSpPr>
          <p:grpSpPr>
            <a:xfrm rot="0">
              <a:off x="839799" y="1152084"/>
              <a:ext cx="213816" cy="21381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2660"/>
                  </a:lnSpc>
                </a:pPr>
              </a:p>
            </p:txBody>
          </p:sp>
        </p:grpSp>
      </p:grpSp>
      <p:grpSp>
        <p:nvGrpSpPr>
          <p:cNvPr name="Group 25" id="25"/>
          <p:cNvGrpSpPr/>
          <p:nvPr/>
        </p:nvGrpSpPr>
        <p:grpSpPr>
          <a:xfrm rot="0">
            <a:off x="790599" y="1963635"/>
            <a:ext cx="522843" cy="5291591"/>
            <a:chOff x="0" y="0"/>
            <a:chExt cx="697124" cy="7055455"/>
          </a:xfrm>
        </p:grpSpPr>
        <p:sp>
          <p:nvSpPr>
            <p:cNvPr name="Freeform 26" id="26"/>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1" id="31"/>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2" id="32"/>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3" id="33"/>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34" id="34"/>
          <p:cNvGrpSpPr/>
          <p:nvPr/>
        </p:nvGrpSpPr>
        <p:grpSpPr>
          <a:xfrm rot="0">
            <a:off x="16997878" y="2866521"/>
            <a:ext cx="522843" cy="5291591"/>
            <a:chOff x="0" y="0"/>
            <a:chExt cx="697124" cy="7055455"/>
          </a:xfrm>
        </p:grpSpPr>
        <p:sp>
          <p:nvSpPr>
            <p:cNvPr name="Freeform 35" id="35"/>
            <p:cNvSpPr/>
            <p:nvPr/>
          </p:nvSpPr>
          <p:spPr>
            <a:xfrm flipH="false" flipV="false" rot="0">
              <a:off x="0" y="363935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6" id="36"/>
            <p:cNvSpPr/>
            <p:nvPr/>
          </p:nvSpPr>
          <p:spPr>
            <a:xfrm flipH="false" flipV="false" rot="0">
              <a:off x="0" y="4553284"/>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0">
              <a:off x="0" y="5467215"/>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0" y="6381146"/>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0" y="0"/>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0" y="913931"/>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1" id="41"/>
            <p:cNvSpPr/>
            <p:nvPr/>
          </p:nvSpPr>
          <p:spPr>
            <a:xfrm flipH="false" flipV="false" rot="0">
              <a:off x="0" y="1827862"/>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2" id="42"/>
            <p:cNvSpPr/>
            <p:nvPr/>
          </p:nvSpPr>
          <p:spPr>
            <a:xfrm flipH="false" flipV="false" rot="0">
              <a:off x="0" y="2741793"/>
              <a:ext cx="697124" cy="674309"/>
            </a:xfrm>
            <a:custGeom>
              <a:avLst/>
              <a:gdLst/>
              <a:ahLst/>
              <a:cxnLst/>
              <a:rect r="r" b="b" t="t" l="l"/>
              <a:pathLst>
                <a:path h="674309" w="697124">
                  <a:moveTo>
                    <a:pt x="0" y="0"/>
                  </a:moveTo>
                  <a:lnTo>
                    <a:pt x="697124" y="0"/>
                  </a:lnTo>
                  <a:lnTo>
                    <a:pt x="697124" y="674309"/>
                  </a:lnTo>
                  <a:lnTo>
                    <a:pt x="0" y="674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43" id="43"/>
          <p:cNvSpPr txBox="true"/>
          <p:nvPr/>
        </p:nvSpPr>
        <p:spPr>
          <a:xfrm rot="0">
            <a:off x="2789156" y="2658300"/>
            <a:ext cx="12755941" cy="4905880"/>
          </a:xfrm>
          <a:prstGeom prst="rect">
            <a:avLst/>
          </a:prstGeom>
        </p:spPr>
        <p:txBody>
          <a:bodyPr anchor="t" rtlCol="false" tIns="0" lIns="0" bIns="0" rIns="0">
            <a:spAutoFit/>
          </a:bodyPr>
          <a:lstStyle/>
          <a:p>
            <a:pPr algn="l">
              <a:lnSpc>
                <a:spcPts val="3896"/>
              </a:lnSpc>
            </a:pPr>
            <a:r>
              <a:rPr lang="en-US" sz="3193">
                <a:solidFill>
                  <a:srgbClr val="3A3E61"/>
                </a:solidFill>
                <a:latin typeface="Vintii"/>
                <a:ea typeface="Vintii"/>
                <a:cs typeface="Vintii"/>
                <a:sym typeface="Vintii"/>
              </a:rPr>
              <a:t>3. Ketiadaan Rekomendasi Bacaan Pendukung Mata Kuliah (Peringkat 3)</a:t>
            </a:r>
          </a:p>
          <a:p>
            <a:pPr algn="l">
              <a:lnSpc>
                <a:spcPts val="3896"/>
              </a:lnSpc>
            </a:pPr>
            <a:r>
              <a:rPr lang="en-US" sz="3193">
                <a:solidFill>
                  <a:srgbClr val="3A3E61"/>
                </a:solidFill>
                <a:latin typeface="Vintii"/>
                <a:ea typeface="Vintii"/>
                <a:cs typeface="Vintii"/>
                <a:sym typeface="Vintii"/>
              </a:rPr>
              <a:t>Masalah ini muncul di setiap awal semester dan berulang pada tiap penugasan mata kuliah. </a:t>
            </a:r>
          </a:p>
          <a:p>
            <a:pPr algn="l">
              <a:lnSpc>
                <a:spcPts val="3896"/>
              </a:lnSpc>
            </a:pPr>
            <a:r>
              <a:rPr lang="en-US" sz="3193">
                <a:solidFill>
                  <a:srgbClr val="3A3E61"/>
                </a:solidFill>
                <a:latin typeface="Vintii"/>
                <a:ea typeface="Vintii"/>
                <a:cs typeface="Vintii"/>
                <a:sym typeface="Vintii"/>
              </a:rPr>
              <a:t>Dampaknya berupa turunnya kualitas referensi yang dipakai mahasiswa karena pemilihan </a:t>
            </a:r>
          </a:p>
          <a:p>
            <a:pPr algn="l">
              <a:lnSpc>
                <a:spcPts val="3896"/>
              </a:lnSpc>
            </a:pPr>
            <a:r>
              <a:rPr lang="en-US" sz="3193">
                <a:solidFill>
                  <a:srgbClr val="3A3E61"/>
                </a:solidFill>
                <a:latin typeface="Vintii"/>
                <a:ea typeface="Vintii"/>
                <a:cs typeface="Vintii"/>
                <a:sym typeface="Vintii"/>
              </a:rPr>
              <a:t>sumber dilakukan tanpa panduan kredibilitas, yang berujung pada pemotongan nilai akademik. Tim dapat menjangkau dua sisi pengguna sekaligus, yaitu mahasiswa sebagai </a:t>
            </a:r>
          </a:p>
          <a:p>
            <a:pPr algn="l">
              <a:lnSpc>
                <a:spcPts val="3896"/>
              </a:lnSpc>
            </a:pPr>
            <a:r>
              <a:rPr lang="en-US" sz="3193">
                <a:solidFill>
                  <a:srgbClr val="3A3E61"/>
                </a:solidFill>
                <a:latin typeface="Vintii"/>
                <a:ea typeface="Vintii"/>
                <a:cs typeface="Vintii"/>
                <a:sym typeface="Vintii"/>
              </a:rPr>
              <a:t>pemakai referensi dan dosen pengampu sebagai penyusun silabus, keduanya berada dalam satu lingkungan fakultas.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2512816">
            <a:off x="-4292634" y="-1843060"/>
            <a:ext cx="13973120" cy="13973120"/>
          </a:xfrm>
          <a:custGeom>
            <a:avLst/>
            <a:gdLst/>
            <a:ahLst/>
            <a:cxnLst/>
            <a:rect r="r" b="b" t="t" l="l"/>
            <a:pathLst>
              <a:path h="13973120" w="13973120">
                <a:moveTo>
                  <a:pt x="0" y="0"/>
                </a:moveTo>
                <a:lnTo>
                  <a:pt x="13973120" y="0"/>
                </a:lnTo>
                <a:lnTo>
                  <a:pt x="13973120" y="13973120"/>
                </a:lnTo>
                <a:lnTo>
                  <a:pt x="0" y="13973120"/>
                </a:lnTo>
                <a:lnTo>
                  <a:pt x="0" y="0"/>
                </a:lnTo>
                <a:close/>
              </a:path>
            </a:pathLst>
          </a:custGeom>
          <a:blipFill>
            <a:blip r:embed="rId2"/>
            <a:stretch>
              <a:fillRect l="0" t="0" r="0" b="0"/>
            </a:stretch>
          </a:blipFill>
        </p:spPr>
      </p:sp>
      <p:sp>
        <p:nvSpPr>
          <p:cNvPr name="Freeform 3" id="3"/>
          <p:cNvSpPr/>
          <p:nvPr/>
        </p:nvSpPr>
        <p:spPr>
          <a:xfrm flipH="false" flipV="false" rot="0">
            <a:off x="1915720" y="1034564"/>
            <a:ext cx="14456560" cy="7665421"/>
          </a:xfrm>
          <a:custGeom>
            <a:avLst/>
            <a:gdLst/>
            <a:ahLst/>
            <a:cxnLst/>
            <a:rect r="r" b="b" t="t" l="l"/>
            <a:pathLst>
              <a:path h="7665421" w="14456560">
                <a:moveTo>
                  <a:pt x="0" y="0"/>
                </a:moveTo>
                <a:lnTo>
                  <a:pt x="14456560" y="0"/>
                </a:lnTo>
                <a:lnTo>
                  <a:pt x="14456560" y="7665422"/>
                </a:lnTo>
                <a:lnTo>
                  <a:pt x="0" y="7665422"/>
                </a:lnTo>
                <a:lnTo>
                  <a:pt x="0" y="0"/>
                </a:lnTo>
                <a:close/>
              </a:path>
            </a:pathLst>
          </a:custGeom>
          <a:blipFill>
            <a:blip r:embed="rId3"/>
            <a:stretch>
              <a:fillRect l="0" t="-9951" r="0" b="-15699"/>
            </a:stretch>
          </a:blipFill>
        </p:spPr>
      </p:sp>
      <p:sp>
        <p:nvSpPr>
          <p:cNvPr name="Freeform 4" id="4"/>
          <p:cNvSpPr/>
          <p:nvPr/>
        </p:nvSpPr>
        <p:spPr>
          <a:xfrm flipH="false" flipV="false" rot="-5400000">
            <a:off x="5688519" y="-2039600"/>
            <a:ext cx="6954044" cy="13798307"/>
          </a:xfrm>
          <a:custGeom>
            <a:avLst/>
            <a:gdLst/>
            <a:ahLst/>
            <a:cxnLst/>
            <a:rect r="r" b="b" t="t" l="l"/>
            <a:pathLst>
              <a:path h="13798307" w="6954044">
                <a:moveTo>
                  <a:pt x="0" y="0"/>
                </a:moveTo>
                <a:lnTo>
                  <a:pt x="6954044" y="0"/>
                </a:lnTo>
                <a:lnTo>
                  <a:pt x="6954044" y="13798307"/>
                </a:lnTo>
                <a:lnTo>
                  <a:pt x="0" y="13798307"/>
                </a:lnTo>
                <a:lnTo>
                  <a:pt x="0" y="0"/>
                </a:lnTo>
                <a:close/>
              </a:path>
            </a:pathLst>
          </a:custGeom>
          <a:blipFill>
            <a:blip r:embed="rId4"/>
            <a:stretch>
              <a:fillRect l="-29965" t="0" r="0" b="0"/>
            </a:stretch>
          </a:blipFill>
        </p:spPr>
      </p:sp>
      <p:grpSp>
        <p:nvGrpSpPr>
          <p:cNvPr name="Group 5" id="5"/>
          <p:cNvGrpSpPr/>
          <p:nvPr/>
        </p:nvGrpSpPr>
        <p:grpSpPr>
          <a:xfrm rot="0">
            <a:off x="2492465" y="1571699"/>
            <a:ext cx="13242983" cy="6531055"/>
            <a:chOff x="0" y="0"/>
            <a:chExt cx="3744572" cy="1846714"/>
          </a:xfrm>
        </p:grpSpPr>
        <p:sp>
          <p:nvSpPr>
            <p:cNvPr name="Freeform 6" id="6"/>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7" id="7"/>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sp>
        <p:nvSpPr>
          <p:cNvPr name="TextBox 8" id="8"/>
          <p:cNvSpPr txBox="true"/>
          <p:nvPr/>
        </p:nvSpPr>
        <p:spPr>
          <a:xfrm rot="0">
            <a:off x="5351407" y="1803792"/>
            <a:ext cx="7628267" cy="847029"/>
          </a:xfrm>
          <a:prstGeom prst="rect">
            <a:avLst/>
          </a:prstGeom>
        </p:spPr>
        <p:txBody>
          <a:bodyPr anchor="t" rtlCol="false" tIns="0" lIns="0" bIns="0" rIns="0">
            <a:spAutoFit/>
          </a:bodyPr>
          <a:lstStyle/>
          <a:p>
            <a:pPr algn="ctr">
              <a:lnSpc>
                <a:spcPts val="5714"/>
              </a:lnSpc>
            </a:pPr>
            <a:r>
              <a:rPr lang="en-US" sz="5195">
                <a:solidFill>
                  <a:srgbClr val="3A3E61"/>
                </a:solidFill>
                <a:latin typeface="Unique"/>
                <a:ea typeface="Unique"/>
                <a:cs typeface="Unique"/>
                <a:sym typeface="Unique"/>
              </a:rPr>
              <a:t>Kesimpulan</a:t>
            </a:r>
          </a:p>
        </p:txBody>
      </p:sp>
      <p:sp>
        <p:nvSpPr>
          <p:cNvPr name="TextBox 9" id="9"/>
          <p:cNvSpPr txBox="true"/>
          <p:nvPr/>
        </p:nvSpPr>
        <p:spPr>
          <a:xfrm rot="0">
            <a:off x="4256315" y="3048367"/>
            <a:ext cx="9715282" cy="4180742"/>
          </a:xfrm>
          <a:prstGeom prst="rect">
            <a:avLst/>
          </a:prstGeom>
        </p:spPr>
        <p:txBody>
          <a:bodyPr anchor="t" rtlCol="false" tIns="0" lIns="0" bIns="0" rIns="0">
            <a:spAutoFit/>
          </a:bodyPr>
          <a:lstStyle/>
          <a:p>
            <a:pPr algn="l" marL="740195" indent="-370097" lvl="1">
              <a:lnSpc>
                <a:spcPts val="4182"/>
              </a:lnSpc>
              <a:buFont typeface="Arial"/>
              <a:buChar char="•"/>
            </a:pPr>
            <a:r>
              <a:rPr lang="en-US" sz="3428">
                <a:solidFill>
                  <a:srgbClr val="3A3E61"/>
                </a:solidFill>
                <a:latin typeface="Vintii"/>
                <a:ea typeface="Vintii"/>
                <a:cs typeface="Vintii"/>
                <a:sym typeface="Vintii"/>
              </a:rPr>
              <a:t>Menghadirkan sistem perpustakaan secara digital</a:t>
            </a:r>
          </a:p>
          <a:p>
            <a:pPr algn="l" marL="740195" indent="-370097" lvl="1">
              <a:lnSpc>
                <a:spcPts val="4182"/>
              </a:lnSpc>
              <a:buFont typeface="Arial"/>
              <a:buChar char="•"/>
            </a:pPr>
            <a:r>
              <a:rPr lang="en-US" sz="3428">
                <a:solidFill>
                  <a:srgbClr val="3A3E61"/>
                </a:solidFill>
                <a:latin typeface="Vintii"/>
                <a:ea typeface="Vintii"/>
                <a:cs typeface="Vintii"/>
                <a:sym typeface="Vintii"/>
              </a:rPr>
              <a:t>Mempermudah akses referensi akademik</a:t>
            </a:r>
          </a:p>
          <a:p>
            <a:pPr algn="l" marL="740195" indent="-370097" lvl="1">
              <a:lnSpc>
                <a:spcPts val="4182"/>
              </a:lnSpc>
              <a:buFont typeface="Arial"/>
              <a:buChar char="•"/>
            </a:pPr>
            <a:r>
              <a:rPr lang="en-US" sz="3428">
                <a:solidFill>
                  <a:srgbClr val="3A3E61"/>
                </a:solidFill>
                <a:latin typeface="Vintii"/>
                <a:ea typeface="Vintii"/>
                <a:cs typeface="Vintii"/>
                <a:sym typeface="Vintii"/>
              </a:rPr>
              <a:t>Dapat diakses tanpa bergantung pada jam operasional perpustakaan</a:t>
            </a:r>
          </a:p>
          <a:p>
            <a:pPr algn="l" marL="740195" indent="-370097" lvl="1">
              <a:lnSpc>
                <a:spcPts val="4182"/>
              </a:lnSpc>
              <a:buFont typeface="Arial"/>
              <a:buChar char="•"/>
            </a:pPr>
            <a:r>
              <a:rPr lang="en-US" sz="3428">
                <a:solidFill>
                  <a:srgbClr val="3A3E61"/>
                </a:solidFill>
                <a:latin typeface="Vintii"/>
                <a:ea typeface="Vintii"/>
                <a:cs typeface="Vintii"/>
                <a:sym typeface="Vintii"/>
              </a:rPr>
              <a:t>Membantu mahasiswa mendapatkan bahan bacaan dengan lebih praktis</a:t>
            </a:r>
          </a:p>
          <a:p>
            <a:pPr algn="l" marL="740195" indent="-370097" lvl="1">
              <a:lnSpc>
                <a:spcPts val="4182"/>
              </a:lnSpc>
              <a:buFont typeface="Arial"/>
              <a:buChar char="•"/>
            </a:pPr>
            <a:r>
              <a:rPr lang="en-US" sz="3428">
                <a:solidFill>
                  <a:srgbClr val="3A3E61"/>
                </a:solidFill>
                <a:latin typeface="Vintii"/>
                <a:ea typeface="Vintii"/>
                <a:cs typeface="Vintii"/>
                <a:sym typeface="Vintii"/>
              </a:rPr>
              <a:t>Mendukung penggunaan referensi yang lebih terpercaya</a:t>
            </a:r>
          </a:p>
        </p:txBody>
      </p:sp>
      <p:sp>
        <p:nvSpPr>
          <p:cNvPr name="Freeform 10" id="10"/>
          <p:cNvSpPr/>
          <p:nvPr/>
        </p:nvSpPr>
        <p:spPr>
          <a:xfrm flipH="false" flipV="false" rot="-2700000">
            <a:off x="364516" y="631975"/>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2499016">
            <a:off x="15556636" y="7348224"/>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a:off x="-540252" y="3407153"/>
            <a:ext cx="1607052" cy="5170039"/>
          </a:xfrm>
          <a:custGeom>
            <a:avLst/>
            <a:gdLst/>
            <a:ahLst/>
            <a:cxnLst/>
            <a:rect r="r" b="b" t="t" l="l"/>
            <a:pathLst>
              <a:path h="5170039" w="1607052">
                <a:moveTo>
                  <a:pt x="1568952" y="0"/>
                </a:moveTo>
                <a:lnTo>
                  <a:pt x="1588002" y="0"/>
                </a:lnTo>
                <a:cubicBezTo>
                  <a:pt x="1593054" y="0"/>
                  <a:pt x="1597900" y="2008"/>
                  <a:pt x="1601472" y="5580"/>
                </a:cubicBezTo>
                <a:cubicBezTo>
                  <a:pt x="1605045" y="9152"/>
                  <a:pt x="1607052" y="13998"/>
                  <a:pt x="1607052" y="19050"/>
                </a:cubicBezTo>
                <a:lnTo>
                  <a:pt x="1607052" y="4941439"/>
                </a:lnTo>
                <a:cubicBezTo>
                  <a:pt x="1607052" y="5067691"/>
                  <a:pt x="1504704" y="5170039"/>
                  <a:pt x="1378452" y="5170039"/>
                </a:cubicBezTo>
                <a:lnTo>
                  <a:pt x="0" y="5170039"/>
                </a:lnTo>
              </a:path>
            </a:pathLst>
          </a:custGeom>
          <a:ln cap="rnd" w="76200">
            <a:solidFill>
              <a:srgbClr val="9AA5DF"/>
            </a:solidFill>
            <a:prstDash val="sysDash"/>
            <a:headEnd type="none" len="sm" w="sm"/>
            <a:tailEnd type="none" len="sm" w="sm"/>
          </a:ln>
        </p:spPr>
      </p:sp>
      <p:sp>
        <p:nvSpPr>
          <p:cNvPr name="Freeform 13" id="13"/>
          <p:cNvSpPr/>
          <p:nvPr/>
        </p:nvSpPr>
        <p:spPr>
          <a:xfrm>
            <a:off x="1283133" y="3701157"/>
            <a:ext cx="38100" cy="6991254"/>
          </a:xfrm>
          <a:custGeom>
            <a:avLst/>
            <a:gdLst/>
            <a:ahLst/>
            <a:cxnLst/>
            <a:rect r="r" b="b" t="t" l="l"/>
            <a:pathLst>
              <a:path h="6991254" w="38100">
                <a:moveTo>
                  <a:pt x="0" y="0"/>
                </a:moveTo>
                <a:lnTo>
                  <a:pt x="19050" y="0"/>
                </a:lnTo>
                <a:cubicBezTo>
                  <a:pt x="24102" y="0"/>
                  <a:pt x="28948" y="2007"/>
                  <a:pt x="32520" y="5580"/>
                </a:cubicBezTo>
                <a:cubicBezTo>
                  <a:pt x="36093" y="9152"/>
                  <a:pt x="38100" y="13998"/>
                  <a:pt x="38100" y="19050"/>
                </a:cubicBezTo>
                <a:lnTo>
                  <a:pt x="38100" y="6991254"/>
                </a:lnTo>
              </a:path>
            </a:pathLst>
          </a:custGeom>
          <a:ln cap="rnd" w="76200">
            <a:solidFill>
              <a:srgbClr val="9AA5DF"/>
            </a:solidFill>
            <a:prstDash val="sysDash"/>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2512816">
            <a:off x="-4292634" y="-1843060"/>
            <a:ext cx="13973120" cy="13973120"/>
          </a:xfrm>
          <a:custGeom>
            <a:avLst/>
            <a:gdLst/>
            <a:ahLst/>
            <a:cxnLst/>
            <a:rect r="r" b="b" t="t" l="l"/>
            <a:pathLst>
              <a:path h="13973120" w="13973120">
                <a:moveTo>
                  <a:pt x="0" y="0"/>
                </a:moveTo>
                <a:lnTo>
                  <a:pt x="13973120" y="0"/>
                </a:lnTo>
                <a:lnTo>
                  <a:pt x="13973120" y="13973120"/>
                </a:lnTo>
                <a:lnTo>
                  <a:pt x="0" y="13973120"/>
                </a:lnTo>
                <a:lnTo>
                  <a:pt x="0" y="0"/>
                </a:lnTo>
                <a:close/>
              </a:path>
            </a:pathLst>
          </a:custGeom>
          <a:blipFill>
            <a:blip r:embed="rId2"/>
            <a:stretch>
              <a:fillRect l="0" t="0" r="0" b="0"/>
            </a:stretch>
          </a:blipFill>
        </p:spPr>
      </p:sp>
      <p:sp>
        <p:nvSpPr>
          <p:cNvPr name="Freeform 3" id="3"/>
          <p:cNvSpPr/>
          <p:nvPr/>
        </p:nvSpPr>
        <p:spPr>
          <a:xfrm flipH="false" flipV="false" rot="0">
            <a:off x="1915720" y="1034564"/>
            <a:ext cx="14456560" cy="7665421"/>
          </a:xfrm>
          <a:custGeom>
            <a:avLst/>
            <a:gdLst/>
            <a:ahLst/>
            <a:cxnLst/>
            <a:rect r="r" b="b" t="t" l="l"/>
            <a:pathLst>
              <a:path h="7665421" w="14456560">
                <a:moveTo>
                  <a:pt x="0" y="0"/>
                </a:moveTo>
                <a:lnTo>
                  <a:pt x="14456560" y="0"/>
                </a:lnTo>
                <a:lnTo>
                  <a:pt x="14456560" y="7665422"/>
                </a:lnTo>
                <a:lnTo>
                  <a:pt x="0" y="7665422"/>
                </a:lnTo>
                <a:lnTo>
                  <a:pt x="0" y="0"/>
                </a:lnTo>
                <a:close/>
              </a:path>
            </a:pathLst>
          </a:custGeom>
          <a:blipFill>
            <a:blip r:embed="rId3"/>
            <a:stretch>
              <a:fillRect l="0" t="-9951" r="0" b="-15699"/>
            </a:stretch>
          </a:blipFill>
        </p:spPr>
      </p:sp>
      <p:sp>
        <p:nvSpPr>
          <p:cNvPr name="Freeform 4" id="4"/>
          <p:cNvSpPr/>
          <p:nvPr/>
        </p:nvSpPr>
        <p:spPr>
          <a:xfrm flipH="false" flipV="false" rot="-5400000">
            <a:off x="5688519" y="-2039600"/>
            <a:ext cx="6954044" cy="13798307"/>
          </a:xfrm>
          <a:custGeom>
            <a:avLst/>
            <a:gdLst/>
            <a:ahLst/>
            <a:cxnLst/>
            <a:rect r="r" b="b" t="t" l="l"/>
            <a:pathLst>
              <a:path h="13798307" w="6954044">
                <a:moveTo>
                  <a:pt x="0" y="0"/>
                </a:moveTo>
                <a:lnTo>
                  <a:pt x="6954044" y="0"/>
                </a:lnTo>
                <a:lnTo>
                  <a:pt x="6954044" y="13798307"/>
                </a:lnTo>
                <a:lnTo>
                  <a:pt x="0" y="13798307"/>
                </a:lnTo>
                <a:lnTo>
                  <a:pt x="0" y="0"/>
                </a:lnTo>
                <a:close/>
              </a:path>
            </a:pathLst>
          </a:custGeom>
          <a:blipFill>
            <a:blip r:embed="rId4"/>
            <a:stretch>
              <a:fillRect l="-29965" t="0" r="0" b="0"/>
            </a:stretch>
          </a:blipFill>
        </p:spPr>
      </p:sp>
      <p:grpSp>
        <p:nvGrpSpPr>
          <p:cNvPr name="Group 5" id="5"/>
          <p:cNvGrpSpPr/>
          <p:nvPr/>
        </p:nvGrpSpPr>
        <p:grpSpPr>
          <a:xfrm rot="0">
            <a:off x="2492465" y="1571699"/>
            <a:ext cx="13242983" cy="6531055"/>
            <a:chOff x="0" y="0"/>
            <a:chExt cx="3744572" cy="1846714"/>
          </a:xfrm>
        </p:grpSpPr>
        <p:sp>
          <p:nvSpPr>
            <p:cNvPr name="Freeform 6" id="6"/>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7" id="7"/>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sp>
        <p:nvSpPr>
          <p:cNvPr name="Freeform 8" id="8"/>
          <p:cNvSpPr/>
          <p:nvPr/>
        </p:nvSpPr>
        <p:spPr>
          <a:xfrm flipH="false" flipV="false" rot="-2700000">
            <a:off x="364516" y="631975"/>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2499016">
            <a:off x="15556636" y="7348224"/>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a:off x="-540252" y="3407153"/>
            <a:ext cx="1607052" cy="5170039"/>
          </a:xfrm>
          <a:custGeom>
            <a:avLst/>
            <a:gdLst/>
            <a:ahLst/>
            <a:cxnLst/>
            <a:rect r="r" b="b" t="t" l="l"/>
            <a:pathLst>
              <a:path h="5170039" w="1607052">
                <a:moveTo>
                  <a:pt x="1568952" y="0"/>
                </a:moveTo>
                <a:lnTo>
                  <a:pt x="1588002" y="0"/>
                </a:lnTo>
                <a:cubicBezTo>
                  <a:pt x="1593054" y="0"/>
                  <a:pt x="1597900" y="2008"/>
                  <a:pt x="1601472" y="5580"/>
                </a:cubicBezTo>
                <a:cubicBezTo>
                  <a:pt x="1605045" y="9152"/>
                  <a:pt x="1607052" y="13998"/>
                  <a:pt x="1607052" y="19050"/>
                </a:cubicBezTo>
                <a:lnTo>
                  <a:pt x="1607052" y="4941439"/>
                </a:lnTo>
                <a:cubicBezTo>
                  <a:pt x="1607052" y="5067691"/>
                  <a:pt x="1504704" y="5170039"/>
                  <a:pt x="1378452" y="5170039"/>
                </a:cubicBezTo>
                <a:lnTo>
                  <a:pt x="0" y="5170039"/>
                </a:lnTo>
              </a:path>
            </a:pathLst>
          </a:custGeom>
          <a:ln cap="rnd" w="76200">
            <a:solidFill>
              <a:srgbClr val="9AA5DF"/>
            </a:solidFill>
            <a:prstDash val="sysDash"/>
            <a:headEnd type="none" len="sm" w="sm"/>
            <a:tailEnd type="none" len="sm" w="sm"/>
          </a:ln>
        </p:spPr>
      </p:sp>
      <p:sp>
        <p:nvSpPr>
          <p:cNvPr name="Freeform 11" id="11"/>
          <p:cNvSpPr/>
          <p:nvPr/>
        </p:nvSpPr>
        <p:spPr>
          <a:xfrm>
            <a:off x="1283133" y="3701157"/>
            <a:ext cx="38100" cy="6991254"/>
          </a:xfrm>
          <a:custGeom>
            <a:avLst/>
            <a:gdLst/>
            <a:ahLst/>
            <a:cxnLst/>
            <a:rect r="r" b="b" t="t" l="l"/>
            <a:pathLst>
              <a:path h="6991254" w="38100">
                <a:moveTo>
                  <a:pt x="0" y="0"/>
                </a:moveTo>
                <a:lnTo>
                  <a:pt x="19050" y="0"/>
                </a:lnTo>
                <a:cubicBezTo>
                  <a:pt x="24102" y="0"/>
                  <a:pt x="28948" y="2007"/>
                  <a:pt x="32520" y="5580"/>
                </a:cubicBezTo>
                <a:cubicBezTo>
                  <a:pt x="36093" y="9152"/>
                  <a:pt x="38100" y="13998"/>
                  <a:pt x="38100" y="19050"/>
                </a:cubicBezTo>
                <a:lnTo>
                  <a:pt x="38100" y="6991254"/>
                </a:lnTo>
              </a:path>
            </a:pathLst>
          </a:custGeom>
          <a:ln cap="rnd" w="76200">
            <a:solidFill>
              <a:srgbClr val="9AA5DF"/>
            </a:solidFill>
            <a:prstDash val="sysDash"/>
            <a:headEnd type="none" len="sm" w="sm"/>
            <a:tailEnd type="none" len="sm" w="sm"/>
          </a:ln>
        </p:spPr>
      </p:sp>
      <p:sp>
        <p:nvSpPr>
          <p:cNvPr name="Freeform 12" id="12"/>
          <p:cNvSpPr/>
          <p:nvPr/>
        </p:nvSpPr>
        <p:spPr>
          <a:xfrm flipH="false" flipV="false" rot="0">
            <a:off x="2266388" y="2650821"/>
            <a:ext cx="6410133" cy="3605700"/>
          </a:xfrm>
          <a:custGeom>
            <a:avLst/>
            <a:gdLst/>
            <a:ahLst/>
            <a:cxnLst/>
            <a:rect r="r" b="b" t="t" l="l"/>
            <a:pathLst>
              <a:path h="3605700" w="6410133">
                <a:moveTo>
                  <a:pt x="0" y="0"/>
                </a:moveTo>
                <a:lnTo>
                  <a:pt x="6410132" y="0"/>
                </a:lnTo>
                <a:lnTo>
                  <a:pt x="6410132" y="3605700"/>
                </a:lnTo>
                <a:lnTo>
                  <a:pt x="0" y="3605700"/>
                </a:lnTo>
                <a:lnTo>
                  <a:pt x="0" y="0"/>
                </a:lnTo>
                <a:close/>
              </a:path>
            </a:pathLst>
          </a:custGeom>
          <a:blipFill>
            <a:blip r:embed="rId7"/>
            <a:stretch>
              <a:fillRect l="-2090" t="0" r="-31838" b="0"/>
            </a:stretch>
          </a:blipFill>
        </p:spPr>
      </p:sp>
      <p:sp>
        <p:nvSpPr>
          <p:cNvPr name="Freeform 13" id="13"/>
          <p:cNvSpPr/>
          <p:nvPr/>
        </p:nvSpPr>
        <p:spPr>
          <a:xfrm flipH="false" flipV="false" rot="0">
            <a:off x="7785543" y="5143500"/>
            <a:ext cx="7949905" cy="3468146"/>
          </a:xfrm>
          <a:custGeom>
            <a:avLst/>
            <a:gdLst/>
            <a:ahLst/>
            <a:cxnLst/>
            <a:rect r="r" b="b" t="t" l="l"/>
            <a:pathLst>
              <a:path h="3468146" w="7949905">
                <a:moveTo>
                  <a:pt x="0" y="0"/>
                </a:moveTo>
                <a:lnTo>
                  <a:pt x="7949904" y="0"/>
                </a:lnTo>
                <a:lnTo>
                  <a:pt x="7949904" y="3468146"/>
                </a:lnTo>
                <a:lnTo>
                  <a:pt x="0" y="3468146"/>
                </a:lnTo>
                <a:lnTo>
                  <a:pt x="0" y="0"/>
                </a:lnTo>
                <a:close/>
              </a:path>
            </a:pathLst>
          </a:custGeom>
          <a:blipFill>
            <a:blip r:embed="rId8"/>
            <a:stretch>
              <a:fillRect l="0" t="0" r="-3869" b="0"/>
            </a:stretch>
          </a:blipFill>
        </p:spPr>
      </p:sp>
      <p:sp>
        <p:nvSpPr>
          <p:cNvPr name="TextBox 14" id="14"/>
          <p:cNvSpPr txBox="true"/>
          <p:nvPr/>
        </p:nvSpPr>
        <p:spPr>
          <a:xfrm rot="0">
            <a:off x="4359485" y="1803792"/>
            <a:ext cx="9612113" cy="847029"/>
          </a:xfrm>
          <a:prstGeom prst="rect">
            <a:avLst/>
          </a:prstGeom>
        </p:spPr>
        <p:txBody>
          <a:bodyPr anchor="t" rtlCol="false" tIns="0" lIns="0" bIns="0" rIns="0">
            <a:spAutoFit/>
          </a:bodyPr>
          <a:lstStyle/>
          <a:p>
            <a:pPr algn="ctr">
              <a:lnSpc>
                <a:spcPts val="5714"/>
              </a:lnSpc>
            </a:pPr>
            <a:r>
              <a:rPr lang="en-US" sz="5195">
                <a:solidFill>
                  <a:srgbClr val="3A3E61"/>
                </a:solidFill>
                <a:latin typeface="Unique"/>
                <a:ea typeface="Unique"/>
                <a:cs typeface="Unique"/>
                <a:sym typeface="Unique"/>
              </a:rPr>
              <a:t>Data berdasarkan Response</a:t>
            </a:r>
          </a:p>
        </p:txBody>
      </p:sp>
      <p:sp>
        <p:nvSpPr>
          <p:cNvPr name="TextBox 15" id="15"/>
          <p:cNvSpPr txBox="true"/>
          <p:nvPr/>
        </p:nvSpPr>
        <p:spPr>
          <a:xfrm rot="0">
            <a:off x="8857495" y="2825230"/>
            <a:ext cx="6877952" cy="2318270"/>
          </a:xfrm>
          <a:prstGeom prst="rect">
            <a:avLst/>
          </a:prstGeom>
        </p:spPr>
        <p:txBody>
          <a:bodyPr anchor="t" rtlCol="false" tIns="0" lIns="0" bIns="0" rIns="0">
            <a:spAutoFit/>
          </a:bodyPr>
          <a:lstStyle/>
          <a:p>
            <a:pPr algn="l">
              <a:lnSpc>
                <a:spcPts val="3059"/>
              </a:lnSpc>
            </a:pPr>
            <a:r>
              <a:rPr lang="en-US" sz="2507">
                <a:solidFill>
                  <a:srgbClr val="3A3E61"/>
                </a:solidFill>
                <a:latin typeface="Vintii"/>
                <a:ea typeface="Vintii"/>
                <a:cs typeface="Vintii"/>
                <a:sym typeface="Vintii"/>
              </a:rPr>
              <a:t>Dari hasil survei, dapat dilihat bahwa mahasiswa memang mengalami kesulitan dalam mencari dan mendapatkan buku atau referensi. Karena itu, dibutuhkan aplikasi perpustakaan digital yang dapat memudahkan mahasiswa dalam mencari buku, melihat ketersediaannya, dan mendapatkan referensi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2512816">
            <a:off x="-4292634" y="-1843060"/>
            <a:ext cx="13973120" cy="13973120"/>
          </a:xfrm>
          <a:custGeom>
            <a:avLst/>
            <a:gdLst/>
            <a:ahLst/>
            <a:cxnLst/>
            <a:rect r="r" b="b" t="t" l="l"/>
            <a:pathLst>
              <a:path h="13973120" w="13973120">
                <a:moveTo>
                  <a:pt x="0" y="0"/>
                </a:moveTo>
                <a:lnTo>
                  <a:pt x="13973120" y="0"/>
                </a:lnTo>
                <a:lnTo>
                  <a:pt x="13973120" y="13973120"/>
                </a:lnTo>
                <a:lnTo>
                  <a:pt x="0" y="13973120"/>
                </a:lnTo>
                <a:lnTo>
                  <a:pt x="0" y="0"/>
                </a:lnTo>
                <a:close/>
              </a:path>
            </a:pathLst>
          </a:custGeom>
          <a:blipFill>
            <a:blip r:embed="rId2"/>
            <a:stretch>
              <a:fillRect l="0" t="0" r="0" b="0"/>
            </a:stretch>
          </a:blipFill>
        </p:spPr>
      </p:sp>
      <p:sp>
        <p:nvSpPr>
          <p:cNvPr name="Freeform 3" id="3"/>
          <p:cNvSpPr/>
          <p:nvPr/>
        </p:nvSpPr>
        <p:spPr>
          <a:xfrm flipH="false" flipV="false" rot="0">
            <a:off x="1915720" y="1034564"/>
            <a:ext cx="14456560" cy="7665421"/>
          </a:xfrm>
          <a:custGeom>
            <a:avLst/>
            <a:gdLst/>
            <a:ahLst/>
            <a:cxnLst/>
            <a:rect r="r" b="b" t="t" l="l"/>
            <a:pathLst>
              <a:path h="7665421" w="14456560">
                <a:moveTo>
                  <a:pt x="0" y="0"/>
                </a:moveTo>
                <a:lnTo>
                  <a:pt x="14456560" y="0"/>
                </a:lnTo>
                <a:lnTo>
                  <a:pt x="14456560" y="7665422"/>
                </a:lnTo>
                <a:lnTo>
                  <a:pt x="0" y="7665422"/>
                </a:lnTo>
                <a:lnTo>
                  <a:pt x="0" y="0"/>
                </a:lnTo>
                <a:close/>
              </a:path>
            </a:pathLst>
          </a:custGeom>
          <a:blipFill>
            <a:blip r:embed="rId3"/>
            <a:stretch>
              <a:fillRect l="0" t="-9951" r="0" b="-15699"/>
            </a:stretch>
          </a:blipFill>
        </p:spPr>
      </p:sp>
      <p:sp>
        <p:nvSpPr>
          <p:cNvPr name="Freeform 4" id="4"/>
          <p:cNvSpPr/>
          <p:nvPr/>
        </p:nvSpPr>
        <p:spPr>
          <a:xfrm flipH="false" flipV="false" rot="-5400000">
            <a:off x="5688519" y="-2039600"/>
            <a:ext cx="6954044" cy="13798307"/>
          </a:xfrm>
          <a:custGeom>
            <a:avLst/>
            <a:gdLst/>
            <a:ahLst/>
            <a:cxnLst/>
            <a:rect r="r" b="b" t="t" l="l"/>
            <a:pathLst>
              <a:path h="13798307" w="6954044">
                <a:moveTo>
                  <a:pt x="0" y="0"/>
                </a:moveTo>
                <a:lnTo>
                  <a:pt x="6954044" y="0"/>
                </a:lnTo>
                <a:lnTo>
                  <a:pt x="6954044" y="13798307"/>
                </a:lnTo>
                <a:lnTo>
                  <a:pt x="0" y="13798307"/>
                </a:lnTo>
                <a:lnTo>
                  <a:pt x="0" y="0"/>
                </a:lnTo>
                <a:close/>
              </a:path>
            </a:pathLst>
          </a:custGeom>
          <a:blipFill>
            <a:blip r:embed="rId4"/>
            <a:stretch>
              <a:fillRect l="-29965" t="0" r="0" b="0"/>
            </a:stretch>
          </a:blipFill>
        </p:spPr>
      </p:sp>
      <p:grpSp>
        <p:nvGrpSpPr>
          <p:cNvPr name="Group 5" id="5"/>
          <p:cNvGrpSpPr/>
          <p:nvPr/>
        </p:nvGrpSpPr>
        <p:grpSpPr>
          <a:xfrm rot="0">
            <a:off x="2492465" y="1571699"/>
            <a:ext cx="13242983" cy="6531055"/>
            <a:chOff x="0" y="0"/>
            <a:chExt cx="3744572" cy="1846714"/>
          </a:xfrm>
        </p:grpSpPr>
        <p:sp>
          <p:nvSpPr>
            <p:cNvPr name="Freeform 6" id="6"/>
            <p:cNvSpPr/>
            <p:nvPr/>
          </p:nvSpPr>
          <p:spPr>
            <a:xfrm flipH="false" flipV="false" rot="0">
              <a:off x="0" y="0"/>
              <a:ext cx="3744572" cy="1846714"/>
            </a:xfrm>
            <a:custGeom>
              <a:avLst/>
              <a:gdLst/>
              <a:ahLst/>
              <a:cxnLst/>
              <a:rect r="r" b="b" t="t" l="l"/>
              <a:pathLst>
                <a:path h="1846714" w="3744572">
                  <a:moveTo>
                    <a:pt x="0" y="0"/>
                  </a:moveTo>
                  <a:lnTo>
                    <a:pt x="3744572" y="0"/>
                  </a:lnTo>
                  <a:lnTo>
                    <a:pt x="3744572" y="1846714"/>
                  </a:lnTo>
                  <a:lnTo>
                    <a:pt x="0" y="1846714"/>
                  </a:lnTo>
                  <a:close/>
                </a:path>
              </a:pathLst>
            </a:custGeom>
            <a:solidFill>
              <a:srgbClr val="FFFFFF">
                <a:alpha val="52941"/>
              </a:srgbClr>
            </a:solidFill>
          </p:spPr>
        </p:sp>
        <p:sp>
          <p:nvSpPr>
            <p:cNvPr name="TextBox 7" id="7"/>
            <p:cNvSpPr txBox="true"/>
            <p:nvPr/>
          </p:nvSpPr>
          <p:spPr>
            <a:xfrm>
              <a:off x="0" y="-47625"/>
              <a:ext cx="3744572" cy="1894339"/>
            </a:xfrm>
            <a:prstGeom prst="rect">
              <a:avLst/>
            </a:prstGeom>
          </p:spPr>
          <p:txBody>
            <a:bodyPr anchor="ctr" rtlCol="false" tIns="50800" lIns="50800" bIns="50800" rIns="50800"/>
            <a:lstStyle/>
            <a:p>
              <a:pPr algn="ctr">
                <a:lnSpc>
                  <a:spcPts val="2485"/>
                </a:lnSpc>
              </a:pPr>
              <a:r>
                <a:rPr lang="en-US" sz="1775">
                  <a:solidFill>
                    <a:srgbClr val="FFFFFF">
                      <a:alpha val="52941"/>
                    </a:srgbClr>
                  </a:solidFill>
                  <a:latin typeface="Marykate"/>
                  <a:ea typeface="Marykate"/>
                  <a:cs typeface="Marykate"/>
                  <a:sym typeface="Marykate"/>
                </a:rPr>
                <a:t> </a:t>
              </a:r>
            </a:p>
          </p:txBody>
        </p:sp>
      </p:grpSp>
      <p:sp>
        <p:nvSpPr>
          <p:cNvPr name="Freeform 8" id="8"/>
          <p:cNvSpPr/>
          <p:nvPr/>
        </p:nvSpPr>
        <p:spPr>
          <a:xfrm flipH="false" flipV="false" rot="-2700000">
            <a:off x="364516" y="631975"/>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2499016">
            <a:off x="15556636" y="7348224"/>
            <a:ext cx="2381963" cy="2457935"/>
          </a:xfrm>
          <a:custGeom>
            <a:avLst/>
            <a:gdLst/>
            <a:ahLst/>
            <a:cxnLst/>
            <a:rect r="r" b="b" t="t" l="l"/>
            <a:pathLst>
              <a:path h="2457935" w="2381963">
                <a:moveTo>
                  <a:pt x="0" y="0"/>
                </a:moveTo>
                <a:lnTo>
                  <a:pt x="2381963" y="0"/>
                </a:lnTo>
                <a:lnTo>
                  <a:pt x="2381963" y="2457935"/>
                </a:lnTo>
                <a:lnTo>
                  <a:pt x="0" y="24579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a:off x="-540252" y="3407153"/>
            <a:ext cx="1607052" cy="5170039"/>
          </a:xfrm>
          <a:custGeom>
            <a:avLst/>
            <a:gdLst/>
            <a:ahLst/>
            <a:cxnLst/>
            <a:rect r="r" b="b" t="t" l="l"/>
            <a:pathLst>
              <a:path h="5170039" w="1607052">
                <a:moveTo>
                  <a:pt x="1568952" y="0"/>
                </a:moveTo>
                <a:lnTo>
                  <a:pt x="1588002" y="0"/>
                </a:lnTo>
                <a:cubicBezTo>
                  <a:pt x="1593054" y="0"/>
                  <a:pt x="1597900" y="2008"/>
                  <a:pt x="1601472" y="5580"/>
                </a:cubicBezTo>
                <a:cubicBezTo>
                  <a:pt x="1605045" y="9152"/>
                  <a:pt x="1607052" y="13998"/>
                  <a:pt x="1607052" y="19050"/>
                </a:cubicBezTo>
                <a:lnTo>
                  <a:pt x="1607052" y="4941439"/>
                </a:lnTo>
                <a:cubicBezTo>
                  <a:pt x="1607052" y="5067691"/>
                  <a:pt x="1504704" y="5170039"/>
                  <a:pt x="1378452" y="5170039"/>
                </a:cubicBezTo>
                <a:lnTo>
                  <a:pt x="0" y="5170039"/>
                </a:lnTo>
              </a:path>
            </a:pathLst>
          </a:custGeom>
          <a:ln cap="rnd" w="76200">
            <a:solidFill>
              <a:srgbClr val="9AA5DF"/>
            </a:solidFill>
            <a:prstDash val="sysDash"/>
            <a:headEnd type="none" len="sm" w="sm"/>
            <a:tailEnd type="none" len="sm" w="sm"/>
          </a:ln>
        </p:spPr>
      </p:sp>
      <p:sp>
        <p:nvSpPr>
          <p:cNvPr name="Freeform 11" id="11"/>
          <p:cNvSpPr/>
          <p:nvPr/>
        </p:nvSpPr>
        <p:spPr>
          <a:xfrm>
            <a:off x="1283133" y="3701157"/>
            <a:ext cx="38100" cy="6991254"/>
          </a:xfrm>
          <a:custGeom>
            <a:avLst/>
            <a:gdLst/>
            <a:ahLst/>
            <a:cxnLst/>
            <a:rect r="r" b="b" t="t" l="l"/>
            <a:pathLst>
              <a:path h="6991254" w="38100">
                <a:moveTo>
                  <a:pt x="0" y="0"/>
                </a:moveTo>
                <a:lnTo>
                  <a:pt x="19050" y="0"/>
                </a:lnTo>
                <a:cubicBezTo>
                  <a:pt x="24102" y="0"/>
                  <a:pt x="28948" y="2007"/>
                  <a:pt x="32520" y="5580"/>
                </a:cubicBezTo>
                <a:cubicBezTo>
                  <a:pt x="36093" y="9152"/>
                  <a:pt x="38100" y="13998"/>
                  <a:pt x="38100" y="19050"/>
                </a:cubicBezTo>
                <a:lnTo>
                  <a:pt x="38100" y="6991254"/>
                </a:lnTo>
              </a:path>
            </a:pathLst>
          </a:custGeom>
          <a:ln cap="rnd" w="76200">
            <a:solidFill>
              <a:srgbClr val="9AA5DF"/>
            </a:solidFill>
            <a:prstDash val="sysDash"/>
            <a:headEnd type="none" len="sm" w="sm"/>
            <a:tailEnd type="none" len="sm" w="sm"/>
          </a:ln>
        </p:spPr>
      </p:sp>
      <p:sp>
        <p:nvSpPr>
          <p:cNvPr name="Freeform 12" id="12"/>
          <p:cNvSpPr/>
          <p:nvPr/>
        </p:nvSpPr>
        <p:spPr>
          <a:xfrm flipH="false" flipV="false" rot="0">
            <a:off x="2266388" y="2650821"/>
            <a:ext cx="6410133" cy="3605700"/>
          </a:xfrm>
          <a:custGeom>
            <a:avLst/>
            <a:gdLst/>
            <a:ahLst/>
            <a:cxnLst/>
            <a:rect r="r" b="b" t="t" l="l"/>
            <a:pathLst>
              <a:path h="3605700" w="6410133">
                <a:moveTo>
                  <a:pt x="0" y="0"/>
                </a:moveTo>
                <a:lnTo>
                  <a:pt x="6410132" y="0"/>
                </a:lnTo>
                <a:lnTo>
                  <a:pt x="6410132" y="3605700"/>
                </a:lnTo>
                <a:lnTo>
                  <a:pt x="0" y="3605700"/>
                </a:lnTo>
                <a:lnTo>
                  <a:pt x="0" y="0"/>
                </a:lnTo>
                <a:close/>
              </a:path>
            </a:pathLst>
          </a:custGeom>
          <a:blipFill>
            <a:blip r:embed="rId7"/>
            <a:stretch>
              <a:fillRect l="-12068" t="0" r="-12068" b="0"/>
            </a:stretch>
          </a:blipFill>
        </p:spPr>
      </p:sp>
      <p:sp>
        <p:nvSpPr>
          <p:cNvPr name="Freeform 13" id="13"/>
          <p:cNvSpPr/>
          <p:nvPr/>
        </p:nvSpPr>
        <p:spPr>
          <a:xfrm flipH="false" flipV="false" rot="0">
            <a:off x="8114789" y="4634608"/>
            <a:ext cx="7949905" cy="3468146"/>
          </a:xfrm>
          <a:custGeom>
            <a:avLst/>
            <a:gdLst/>
            <a:ahLst/>
            <a:cxnLst/>
            <a:rect r="r" b="b" t="t" l="l"/>
            <a:pathLst>
              <a:path h="3468146" w="7949905">
                <a:moveTo>
                  <a:pt x="0" y="0"/>
                </a:moveTo>
                <a:lnTo>
                  <a:pt x="7949905" y="0"/>
                </a:lnTo>
                <a:lnTo>
                  <a:pt x="7949905" y="3468146"/>
                </a:lnTo>
                <a:lnTo>
                  <a:pt x="0" y="3468146"/>
                </a:lnTo>
                <a:lnTo>
                  <a:pt x="0" y="0"/>
                </a:lnTo>
                <a:close/>
              </a:path>
            </a:pathLst>
          </a:custGeom>
          <a:blipFill>
            <a:blip r:embed="rId8"/>
            <a:stretch>
              <a:fillRect l="-1934" t="0" r="-1934" b="0"/>
            </a:stretch>
          </a:blipFill>
        </p:spPr>
      </p:sp>
      <p:sp>
        <p:nvSpPr>
          <p:cNvPr name="TextBox 14" id="14"/>
          <p:cNvSpPr txBox="true"/>
          <p:nvPr/>
        </p:nvSpPr>
        <p:spPr>
          <a:xfrm rot="0">
            <a:off x="4359485" y="1803792"/>
            <a:ext cx="9612113" cy="847029"/>
          </a:xfrm>
          <a:prstGeom prst="rect">
            <a:avLst/>
          </a:prstGeom>
        </p:spPr>
        <p:txBody>
          <a:bodyPr anchor="t" rtlCol="false" tIns="0" lIns="0" bIns="0" rIns="0">
            <a:spAutoFit/>
          </a:bodyPr>
          <a:lstStyle/>
          <a:p>
            <a:pPr algn="ctr">
              <a:lnSpc>
                <a:spcPts val="5714"/>
              </a:lnSpc>
            </a:pPr>
            <a:r>
              <a:rPr lang="en-US" sz="5195">
                <a:solidFill>
                  <a:srgbClr val="3A3E61"/>
                </a:solidFill>
                <a:latin typeface="Unique"/>
                <a:ea typeface="Unique"/>
                <a:cs typeface="Unique"/>
                <a:sym typeface="Unique"/>
              </a:rPr>
              <a:t>Data berdasarkan Response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0">
            <a:off x="-4478740" y="34826"/>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5593216">
            <a:off x="-1049628" y="6066657"/>
            <a:ext cx="5312174" cy="6071055"/>
          </a:xfrm>
          <a:custGeom>
            <a:avLst/>
            <a:gdLst/>
            <a:ahLst/>
            <a:cxnLst/>
            <a:rect r="r" b="b" t="t" l="l"/>
            <a:pathLst>
              <a:path h="6071055" w="5312174">
                <a:moveTo>
                  <a:pt x="0" y="0"/>
                </a:moveTo>
                <a:lnTo>
                  <a:pt x="5312173" y="0"/>
                </a:lnTo>
                <a:lnTo>
                  <a:pt x="5312173" y="6071055"/>
                </a:lnTo>
                <a:lnTo>
                  <a:pt x="0" y="6071055"/>
                </a:lnTo>
                <a:lnTo>
                  <a:pt x="0" y="0"/>
                </a:lnTo>
                <a:close/>
              </a:path>
            </a:pathLst>
          </a:custGeom>
          <a:blipFill>
            <a:blip r:embed="rId3"/>
            <a:stretch>
              <a:fillRect l="0" t="0" r="0" b="0"/>
            </a:stretch>
          </a:blipFill>
        </p:spPr>
      </p:sp>
      <p:sp>
        <p:nvSpPr>
          <p:cNvPr name="Freeform 4" id="4"/>
          <p:cNvSpPr/>
          <p:nvPr/>
        </p:nvSpPr>
        <p:spPr>
          <a:xfrm flipH="false" flipV="false" rot="0">
            <a:off x="14173200" y="2839721"/>
            <a:ext cx="8229600" cy="8229600"/>
          </a:xfrm>
          <a:custGeom>
            <a:avLst/>
            <a:gdLst/>
            <a:ahLst/>
            <a:cxnLst/>
            <a:rect r="r" b="b" t="t" l="l"/>
            <a:pathLst>
              <a:path h="8229600" w="8229600">
                <a:moveTo>
                  <a:pt x="0" y="0"/>
                </a:moveTo>
                <a:lnTo>
                  <a:pt x="8229600" y="0"/>
                </a:lnTo>
                <a:lnTo>
                  <a:pt x="8229600" y="8229600"/>
                </a:lnTo>
                <a:lnTo>
                  <a:pt x="0" y="8229600"/>
                </a:lnTo>
                <a:lnTo>
                  <a:pt x="0" y="0"/>
                </a:lnTo>
                <a:close/>
              </a:path>
            </a:pathLst>
          </a:custGeom>
          <a:blipFill>
            <a:blip r:embed="rId2"/>
            <a:stretch>
              <a:fillRect l="0" t="0" r="0" b="0"/>
            </a:stretch>
          </a:blipFill>
        </p:spPr>
      </p:sp>
      <p:sp>
        <p:nvSpPr>
          <p:cNvPr name="Freeform 5" id="5"/>
          <p:cNvSpPr/>
          <p:nvPr/>
        </p:nvSpPr>
        <p:spPr>
          <a:xfrm flipH="false" flipV="false" rot="-5593216">
            <a:off x="14010667" y="-1791078"/>
            <a:ext cx="5312174" cy="6071055"/>
          </a:xfrm>
          <a:custGeom>
            <a:avLst/>
            <a:gdLst/>
            <a:ahLst/>
            <a:cxnLst/>
            <a:rect r="r" b="b" t="t" l="l"/>
            <a:pathLst>
              <a:path h="6071055" w="5312174">
                <a:moveTo>
                  <a:pt x="0" y="0"/>
                </a:moveTo>
                <a:lnTo>
                  <a:pt x="5312174" y="0"/>
                </a:lnTo>
                <a:lnTo>
                  <a:pt x="5312174" y="6071055"/>
                </a:lnTo>
                <a:lnTo>
                  <a:pt x="0" y="6071055"/>
                </a:lnTo>
                <a:lnTo>
                  <a:pt x="0" y="0"/>
                </a:lnTo>
                <a:close/>
              </a:path>
            </a:pathLst>
          </a:custGeom>
          <a:blipFill>
            <a:blip r:embed="rId3"/>
            <a:stretch>
              <a:fillRect l="0" t="0" r="0" b="0"/>
            </a:stretch>
          </a:blipFill>
        </p:spPr>
      </p:sp>
      <p:grpSp>
        <p:nvGrpSpPr>
          <p:cNvPr name="Group 6" id="6"/>
          <p:cNvGrpSpPr/>
          <p:nvPr/>
        </p:nvGrpSpPr>
        <p:grpSpPr>
          <a:xfrm rot="0">
            <a:off x="711705" y="651325"/>
            <a:ext cx="16864590" cy="8984349"/>
            <a:chOff x="0" y="0"/>
            <a:chExt cx="4441703" cy="2366248"/>
          </a:xfrm>
        </p:grpSpPr>
        <p:sp>
          <p:nvSpPr>
            <p:cNvPr name="Freeform 7" id="7"/>
            <p:cNvSpPr/>
            <p:nvPr/>
          </p:nvSpPr>
          <p:spPr>
            <a:xfrm flipH="false" flipV="false" rot="0">
              <a:off x="0" y="0"/>
              <a:ext cx="4441703" cy="2366248"/>
            </a:xfrm>
            <a:custGeom>
              <a:avLst/>
              <a:gdLst/>
              <a:ahLst/>
              <a:cxnLst/>
              <a:rect r="r" b="b" t="t" l="l"/>
              <a:pathLst>
                <a:path h="2366248" w="4441703">
                  <a:moveTo>
                    <a:pt x="23412" y="0"/>
                  </a:moveTo>
                  <a:lnTo>
                    <a:pt x="4418290" y="0"/>
                  </a:lnTo>
                  <a:cubicBezTo>
                    <a:pt x="4424500" y="0"/>
                    <a:pt x="4430455" y="2467"/>
                    <a:pt x="4434845" y="6857"/>
                  </a:cubicBezTo>
                  <a:cubicBezTo>
                    <a:pt x="4439236" y="11248"/>
                    <a:pt x="4441703" y="17203"/>
                    <a:pt x="4441703" y="23412"/>
                  </a:cubicBezTo>
                  <a:lnTo>
                    <a:pt x="4441703" y="2342836"/>
                  </a:lnTo>
                  <a:cubicBezTo>
                    <a:pt x="4441703" y="2355766"/>
                    <a:pt x="4431221" y="2366248"/>
                    <a:pt x="4418290" y="2366248"/>
                  </a:cubicBezTo>
                  <a:lnTo>
                    <a:pt x="23412" y="2366248"/>
                  </a:lnTo>
                  <a:cubicBezTo>
                    <a:pt x="17203" y="2366248"/>
                    <a:pt x="11248" y="2363782"/>
                    <a:pt x="6857" y="2359391"/>
                  </a:cubicBezTo>
                  <a:cubicBezTo>
                    <a:pt x="2467" y="2355000"/>
                    <a:pt x="0" y="2349045"/>
                    <a:pt x="0" y="2342836"/>
                  </a:cubicBezTo>
                  <a:lnTo>
                    <a:pt x="0" y="23412"/>
                  </a:lnTo>
                  <a:cubicBezTo>
                    <a:pt x="0" y="10482"/>
                    <a:pt x="10482" y="0"/>
                    <a:pt x="23412" y="0"/>
                  </a:cubicBezTo>
                  <a:close/>
                </a:path>
              </a:pathLst>
            </a:custGeom>
            <a:ln w="66675" cap="rnd">
              <a:solidFill>
                <a:srgbClr val="9AA5DF"/>
              </a:solidFill>
              <a:prstDash val="dash"/>
              <a:round/>
            </a:ln>
          </p:spPr>
        </p:sp>
        <p:sp>
          <p:nvSpPr>
            <p:cNvPr name="TextBox 8" id="8"/>
            <p:cNvSpPr txBox="true"/>
            <p:nvPr/>
          </p:nvSpPr>
          <p:spPr>
            <a:xfrm>
              <a:off x="0" y="-47625"/>
              <a:ext cx="4441703" cy="2413873"/>
            </a:xfrm>
            <a:prstGeom prst="rect">
              <a:avLst/>
            </a:prstGeom>
          </p:spPr>
          <p:txBody>
            <a:bodyPr anchor="ctr" rtlCol="false" tIns="50800" lIns="50800" bIns="50800" rIns="50800"/>
            <a:lstStyle/>
            <a:p>
              <a:pPr algn="ctr">
                <a:lnSpc>
                  <a:spcPts val="2485"/>
                </a:lnSpc>
              </a:pPr>
            </a:p>
          </p:txBody>
        </p:sp>
      </p:grpSp>
      <p:sp>
        <p:nvSpPr>
          <p:cNvPr name="Freeform 9" id="9"/>
          <p:cNvSpPr/>
          <p:nvPr/>
        </p:nvSpPr>
        <p:spPr>
          <a:xfrm flipH="false" flipV="false" rot="5400000">
            <a:off x="15839240" y="2209872"/>
            <a:ext cx="1420060" cy="1420060"/>
          </a:xfrm>
          <a:custGeom>
            <a:avLst/>
            <a:gdLst/>
            <a:ahLst/>
            <a:cxnLst/>
            <a:rect r="r" b="b" t="t" l="l"/>
            <a:pathLst>
              <a:path h="1420060" w="1420060">
                <a:moveTo>
                  <a:pt x="0" y="0"/>
                </a:moveTo>
                <a:lnTo>
                  <a:pt x="1420060" y="0"/>
                </a:lnTo>
                <a:lnTo>
                  <a:pt x="1420060" y="1420060"/>
                </a:lnTo>
                <a:lnTo>
                  <a:pt x="0" y="1420060"/>
                </a:lnTo>
                <a:lnTo>
                  <a:pt x="0" y="0"/>
                </a:lnTo>
                <a:close/>
              </a:path>
            </a:pathLst>
          </a:custGeom>
          <a:blipFill>
            <a:blip r:embed="rId4"/>
            <a:stretch>
              <a:fillRect l="0" t="0" r="0" b="0"/>
            </a:stretch>
          </a:blipFill>
        </p:spPr>
      </p:sp>
      <p:grpSp>
        <p:nvGrpSpPr>
          <p:cNvPr name="Group 10" id="10"/>
          <p:cNvGrpSpPr/>
          <p:nvPr/>
        </p:nvGrpSpPr>
        <p:grpSpPr>
          <a:xfrm rot="5400000">
            <a:off x="16703303" y="2839721"/>
            <a:ext cx="160362" cy="16036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2" id="12"/>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grpSp>
        <p:nvGrpSpPr>
          <p:cNvPr name="Group 13" id="13"/>
          <p:cNvGrpSpPr/>
          <p:nvPr/>
        </p:nvGrpSpPr>
        <p:grpSpPr>
          <a:xfrm rot="5400000">
            <a:off x="16234876" y="2839721"/>
            <a:ext cx="160362" cy="16036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5" id="15"/>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sp>
        <p:nvSpPr>
          <p:cNvPr name="Freeform 16" id="16"/>
          <p:cNvSpPr/>
          <p:nvPr/>
        </p:nvSpPr>
        <p:spPr>
          <a:xfrm flipH="false" flipV="false" rot="5400000">
            <a:off x="15792598" y="6733268"/>
            <a:ext cx="1420060" cy="1420060"/>
          </a:xfrm>
          <a:custGeom>
            <a:avLst/>
            <a:gdLst/>
            <a:ahLst/>
            <a:cxnLst/>
            <a:rect r="r" b="b" t="t" l="l"/>
            <a:pathLst>
              <a:path h="1420060" w="1420060">
                <a:moveTo>
                  <a:pt x="0" y="0"/>
                </a:moveTo>
                <a:lnTo>
                  <a:pt x="1420060" y="0"/>
                </a:lnTo>
                <a:lnTo>
                  <a:pt x="1420060" y="1420060"/>
                </a:lnTo>
                <a:lnTo>
                  <a:pt x="0" y="1420060"/>
                </a:lnTo>
                <a:lnTo>
                  <a:pt x="0" y="0"/>
                </a:lnTo>
                <a:close/>
              </a:path>
            </a:pathLst>
          </a:custGeom>
          <a:blipFill>
            <a:blip r:embed="rId4"/>
            <a:stretch>
              <a:fillRect l="0" t="0" r="0" b="0"/>
            </a:stretch>
          </a:blipFill>
        </p:spPr>
      </p:sp>
      <p:grpSp>
        <p:nvGrpSpPr>
          <p:cNvPr name="Group 17" id="17"/>
          <p:cNvGrpSpPr/>
          <p:nvPr/>
        </p:nvGrpSpPr>
        <p:grpSpPr>
          <a:xfrm rot="5400000">
            <a:off x="16656661" y="7363117"/>
            <a:ext cx="160362" cy="16036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19" id="19"/>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grpSp>
        <p:nvGrpSpPr>
          <p:cNvPr name="Group 20" id="20"/>
          <p:cNvGrpSpPr/>
          <p:nvPr/>
        </p:nvGrpSpPr>
        <p:grpSpPr>
          <a:xfrm rot="5400000">
            <a:off x="16188234" y="7363117"/>
            <a:ext cx="160362" cy="16036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22" id="22"/>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sp>
        <p:nvSpPr>
          <p:cNvPr name="Freeform 23" id="23"/>
          <p:cNvSpPr/>
          <p:nvPr/>
        </p:nvSpPr>
        <p:spPr>
          <a:xfrm flipH="false" flipV="false" rot="0">
            <a:off x="16299509" y="3896760"/>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16299509" y="4582209"/>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false" flipV="false" rot="0">
            <a:off x="16299509" y="5267657"/>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false" flipV="false" rot="0">
            <a:off x="16299509" y="5953105"/>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false" flipV="false" rot="2700000">
            <a:off x="8104892" y="420705"/>
            <a:ext cx="2078215" cy="2144500"/>
          </a:xfrm>
          <a:custGeom>
            <a:avLst/>
            <a:gdLst/>
            <a:ahLst/>
            <a:cxnLst/>
            <a:rect r="r" b="b" t="t" l="l"/>
            <a:pathLst>
              <a:path h="2144500" w="2078215">
                <a:moveTo>
                  <a:pt x="0" y="0"/>
                </a:moveTo>
                <a:lnTo>
                  <a:pt x="2078216" y="0"/>
                </a:lnTo>
                <a:lnTo>
                  <a:pt x="2078216" y="2144500"/>
                </a:lnTo>
                <a:lnTo>
                  <a:pt x="0" y="21445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8" id="28"/>
          <p:cNvSpPr txBox="true"/>
          <p:nvPr/>
        </p:nvSpPr>
        <p:spPr>
          <a:xfrm rot="0">
            <a:off x="4967298" y="3223027"/>
            <a:ext cx="8353404" cy="3709518"/>
          </a:xfrm>
          <a:prstGeom prst="rect">
            <a:avLst/>
          </a:prstGeom>
        </p:spPr>
        <p:txBody>
          <a:bodyPr anchor="t" rtlCol="false" tIns="0" lIns="0" bIns="0" rIns="0">
            <a:spAutoFit/>
          </a:bodyPr>
          <a:lstStyle/>
          <a:p>
            <a:pPr algn="ctr">
              <a:lnSpc>
                <a:spcPts val="13571"/>
              </a:lnSpc>
            </a:pPr>
            <a:r>
              <a:rPr lang="en-US" sz="12338">
                <a:solidFill>
                  <a:srgbClr val="3A3E61"/>
                </a:solidFill>
                <a:latin typeface="Unique"/>
                <a:ea typeface="Unique"/>
                <a:cs typeface="Unique"/>
                <a:sym typeface="Unique"/>
              </a:rPr>
              <a:t>TERIMA KASIH</a:t>
            </a:r>
          </a:p>
        </p:txBody>
      </p:sp>
      <p:sp>
        <p:nvSpPr>
          <p:cNvPr name="Freeform 29" id="29"/>
          <p:cNvSpPr/>
          <p:nvPr/>
        </p:nvSpPr>
        <p:spPr>
          <a:xfrm flipH="false" flipV="false" rot="5400000">
            <a:off x="1075342" y="2209872"/>
            <a:ext cx="1420060" cy="1420060"/>
          </a:xfrm>
          <a:custGeom>
            <a:avLst/>
            <a:gdLst/>
            <a:ahLst/>
            <a:cxnLst/>
            <a:rect r="r" b="b" t="t" l="l"/>
            <a:pathLst>
              <a:path h="1420060" w="1420060">
                <a:moveTo>
                  <a:pt x="0" y="0"/>
                </a:moveTo>
                <a:lnTo>
                  <a:pt x="1420060" y="0"/>
                </a:lnTo>
                <a:lnTo>
                  <a:pt x="1420060" y="1420060"/>
                </a:lnTo>
                <a:lnTo>
                  <a:pt x="0" y="1420060"/>
                </a:lnTo>
                <a:lnTo>
                  <a:pt x="0" y="0"/>
                </a:lnTo>
                <a:close/>
              </a:path>
            </a:pathLst>
          </a:custGeom>
          <a:blipFill>
            <a:blip r:embed="rId4"/>
            <a:stretch>
              <a:fillRect l="0" t="0" r="0" b="0"/>
            </a:stretch>
          </a:blipFill>
        </p:spPr>
      </p:sp>
      <p:grpSp>
        <p:nvGrpSpPr>
          <p:cNvPr name="Group 30" id="30"/>
          <p:cNvGrpSpPr/>
          <p:nvPr/>
        </p:nvGrpSpPr>
        <p:grpSpPr>
          <a:xfrm rot="5400000">
            <a:off x="1939405" y="2839721"/>
            <a:ext cx="160362" cy="160362"/>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32" id="32"/>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grpSp>
        <p:nvGrpSpPr>
          <p:cNvPr name="Group 33" id="33"/>
          <p:cNvGrpSpPr/>
          <p:nvPr/>
        </p:nvGrpSpPr>
        <p:grpSpPr>
          <a:xfrm rot="5400000">
            <a:off x="1470977" y="2839721"/>
            <a:ext cx="160362" cy="160362"/>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35" id="35"/>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sp>
        <p:nvSpPr>
          <p:cNvPr name="Freeform 36" id="36"/>
          <p:cNvSpPr/>
          <p:nvPr/>
        </p:nvSpPr>
        <p:spPr>
          <a:xfrm flipH="false" flipV="false" rot="5400000">
            <a:off x="1028700" y="6733268"/>
            <a:ext cx="1420060" cy="1420060"/>
          </a:xfrm>
          <a:custGeom>
            <a:avLst/>
            <a:gdLst/>
            <a:ahLst/>
            <a:cxnLst/>
            <a:rect r="r" b="b" t="t" l="l"/>
            <a:pathLst>
              <a:path h="1420060" w="1420060">
                <a:moveTo>
                  <a:pt x="0" y="0"/>
                </a:moveTo>
                <a:lnTo>
                  <a:pt x="1420060" y="0"/>
                </a:lnTo>
                <a:lnTo>
                  <a:pt x="1420060" y="1420060"/>
                </a:lnTo>
                <a:lnTo>
                  <a:pt x="0" y="1420060"/>
                </a:lnTo>
                <a:lnTo>
                  <a:pt x="0" y="0"/>
                </a:lnTo>
                <a:close/>
              </a:path>
            </a:pathLst>
          </a:custGeom>
          <a:blipFill>
            <a:blip r:embed="rId4"/>
            <a:stretch>
              <a:fillRect l="0" t="0" r="0" b="0"/>
            </a:stretch>
          </a:blipFill>
        </p:spPr>
      </p:sp>
      <p:grpSp>
        <p:nvGrpSpPr>
          <p:cNvPr name="Group 37" id="37"/>
          <p:cNvGrpSpPr/>
          <p:nvPr/>
        </p:nvGrpSpPr>
        <p:grpSpPr>
          <a:xfrm rot="5400000">
            <a:off x="1892763" y="7363117"/>
            <a:ext cx="160362" cy="160362"/>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39" id="39"/>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grpSp>
        <p:nvGrpSpPr>
          <p:cNvPr name="Group 40" id="40"/>
          <p:cNvGrpSpPr/>
          <p:nvPr/>
        </p:nvGrpSpPr>
        <p:grpSpPr>
          <a:xfrm rot="5400000">
            <a:off x="1424335" y="7363117"/>
            <a:ext cx="160362" cy="160362"/>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7373">
                    <a:alpha val="100000"/>
                  </a:srgbClr>
                </a:gs>
                <a:gs pos="100000">
                  <a:srgbClr val="343434">
                    <a:alpha val="100000"/>
                  </a:srgbClr>
                </a:gs>
              </a:gsLst>
              <a:path path="circle">
                <a:fillToRect l="50000" r="50000" t="50000" b="50000"/>
              </a:path>
            </a:gradFill>
          </p:spPr>
        </p:sp>
        <p:sp>
          <p:nvSpPr>
            <p:cNvPr name="TextBox 42" id="42"/>
            <p:cNvSpPr txBox="true"/>
            <p:nvPr/>
          </p:nvSpPr>
          <p:spPr>
            <a:xfrm>
              <a:off x="76200" y="19050"/>
              <a:ext cx="660400" cy="717550"/>
            </a:xfrm>
            <a:prstGeom prst="rect">
              <a:avLst/>
            </a:prstGeom>
          </p:spPr>
          <p:txBody>
            <a:bodyPr anchor="ctr" rtlCol="false" tIns="54372" lIns="54372" bIns="54372" rIns="54372"/>
            <a:lstStyle/>
            <a:p>
              <a:pPr algn="ctr">
                <a:lnSpc>
                  <a:spcPts val="2659"/>
                </a:lnSpc>
              </a:pPr>
            </a:p>
          </p:txBody>
        </p:sp>
      </p:grpSp>
      <p:sp>
        <p:nvSpPr>
          <p:cNvPr name="Freeform 43" id="43"/>
          <p:cNvSpPr/>
          <p:nvPr/>
        </p:nvSpPr>
        <p:spPr>
          <a:xfrm flipH="false" flipV="false" rot="0">
            <a:off x="1535611" y="3896760"/>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4" id="44"/>
          <p:cNvSpPr/>
          <p:nvPr/>
        </p:nvSpPr>
        <p:spPr>
          <a:xfrm flipH="false" flipV="false" rot="0">
            <a:off x="1535611" y="4582209"/>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5" id="45"/>
          <p:cNvSpPr/>
          <p:nvPr/>
        </p:nvSpPr>
        <p:spPr>
          <a:xfrm flipH="false" flipV="false" rot="0">
            <a:off x="1535611" y="5267657"/>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6" id="46"/>
          <p:cNvSpPr/>
          <p:nvPr/>
        </p:nvSpPr>
        <p:spPr>
          <a:xfrm flipH="false" flipV="false" rot="0">
            <a:off x="1535611" y="5953105"/>
            <a:ext cx="522843" cy="505732"/>
          </a:xfrm>
          <a:custGeom>
            <a:avLst/>
            <a:gdLst/>
            <a:ahLst/>
            <a:cxnLst/>
            <a:rect r="r" b="b" t="t" l="l"/>
            <a:pathLst>
              <a:path h="505732" w="522843">
                <a:moveTo>
                  <a:pt x="0" y="0"/>
                </a:moveTo>
                <a:lnTo>
                  <a:pt x="522843" y="0"/>
                </a:lnTo>
                <a:lnTo>
                  <a:pt x="522843" y="505732"/>
                </a:lnTo>
                <a:lnTo>
                  <a:pt x="0" y="505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DAHVgedQ8-c</dc:identifier>
  <dcterms:modified xsi:type="dcterms:W3CDTF">2011-08-01T06:04:30Z</dcterms:modified>
  <cp:revision>1</cp:revision>
  <dc:title>Kelompok 9-Kewirausahaan </dc:title>
</cp:coreProperties>
</file>